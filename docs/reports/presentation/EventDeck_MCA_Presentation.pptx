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7886cbf-ac3c-0b27-79bc-c1537b6b81d6}">
          <p14:sldIdLst>
            <p14:sldId id="256"/>
            <p14:sldId id="257"/>
            <p14:sldId id="258"/>
            <p14:sldId id="259"/>
            <p14:sldId id="260"/>
          </p14:sldIdLst>
        </p14:section>
        <p14:section name="Design" id="{021ae29c-db36-a539-a5e8-88344e7f75ff}">
          <p14:sldIdLst>
            <p14:sldId id="261"/>
            <p14:sldId id="262"/>
            <p14:sldId id="263"/>
            <p14:sldId id="264"/>
          </p14:sldIdLst>
        </p14:section>
        <p14:section name="Implementation" id="{4c1e6669-36b1-4a23-7c42-9893b8369eb9}">
          <p14:sldIdLst>
            <p14:sldId id="265"/>
            <p14:sldId id="266"/>
            <p14:sldId id="267"/>
          </p14:sldIdLst>
        </p14:section>
        <p14:section name="Evaluation" id="{448cecf0-e722-c599-75e8-f226fa792104}">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EventDeck, a university event ticketing system with transactional seat reservation and QR check-in, developed by Matheshwaran R, Suhas C, Nithyashree K and Devananda E under the guidance of Dr. V. Nisha, Assistant Professor, Department of Computer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 in one sentence: EventDeck replaces forms, spreadsheets and payment screenshots with one application where the rules of an event are enforced by the server and the database. The right-hand side summarises the problem, our approach, the implemented capabilities and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domain first, then the four concrete failures of the existing approach. The problem statement on the right is the one from Chapter 1 of the report. Emphasise 'exactly once' at the door: concurrency is the hard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map to the six objectives in section 1.3.1 of the report. The third column is deliberate: payments are test-mode only and payouts are recorded rather than transferred, so we do not claim production payment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each row: the left column is the current practice described in section 3.1, the right column is how EventDeck enforces the same rule. Every right-hand claim is implemented and covered in Chapters 5 and 6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tiers top to bottom. Key point: the proxy only redirects; every page, Server Action and route handler re-checks the user's role, and the database still enforces constraints and row-level security if anything above is bypassed.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are those declared in package.json. Everything is managed: Supabase hosts the database, authentication, storage and realtime; Vercel hosts the application. There is no local database server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platform roles (participant, organizer, administrator) plus event moderators. Administrator accounts cannot be obtained through the website; they are created with a command-line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lives in src/db/schema.ts with versioned SQL migrations. Point at the core chain, then the constraints: even if application code had a bug, the database would refuse to over-allocate a tier or record a second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createBooking in src/lib/server/bookings.ts. Step 4 is the heart of the system: the check and the increment are a single SQL statement, so two buyers can never both take the last seat. Tiers are always locked in sorted order to avoid deadlocks.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Concurrency at the door is handled by a unique constraint on check_ins.ticket_id, which the QA run verified with four simultaneous scans by two moderators producing exactly one check-in. On the right, the four layers of authorisation described in section 4.7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of EventDeck, not mock-ups, taken with fictional demo accounts. If a live demo is possible, show the same flow at eventdeck.online: browse, book, open the ticket, then scan it from the organizer's Scanner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The top row was executed on the current code. The middle box is historical evidence from the quality-assurance run on 14 October against a local stack that was later removed; we label it as such. The right box states what remains to be re-run. Also mention: QA found and fixed two critical defects where users could falsely claim SRM membership, and we root-caused an admin-page hang to query pipelining through the database pooler.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from section 9.1 of the report; future work from section 9.2. The first enhancement is the most immediate: re-running the integration and end-to-end suites on a dedicated Supabase test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If time allows, open eventdeck.online for a short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pic>
        <p:nvPicPr>
          <p:cNvPr id="4" name="Image 0" descr="/private/tmp/claude-501/-Users-maddy-Current-Project-EventDeck/fbb2a737-7e3b-4db0-8d12-5d158648d7f7/scratchpad/deck/eventdeck-mark.png">    </p:cNvPr>
          <p:cNvPicPr>
            <a:picLocks noChangeAspect="1"/>
          </p:cNvPicPr>
          <p:nvPr/>
        </p:nvPicPr>
        <p:blipFill>
          <a:blip r:embed="rId1"/>
          <a:stretch>
            <a:fillRect/>
          </a:stretch>
        </p:blipFill>
        <p:spPr>
          <a:xfrm>
            <a:off x="548640" y="6382512"/>
            <a:ext cx="219456" cy="219456"/>
          </a:xfrm>
          <a:prstGeom prst="rect">
            <a:avLst/>
          </a:prstGeom>
        </p:spPr>
      </p:pic>
      <p:sp>
        <p:nvSpPr>
          <p:cNvPr id="5" name="Text 0"/>
          <p:cNvSpPr/>
          <p:nvPr/>
        </p:nvSpPr>
        <p:spPr>
          <a:xfrm>
            <a:off x="841248" y="6355080"/>
            <a:ext cx="6583680" cy="274320"/>
          </a:xfrm>
          <a:prstGeom prst="rect">
            <a:avLst/>
          </a:prstGeom>
          <a:noFill/>
          <a:ln/>
        </p:spPr>
        <p:txBody>
          <a:bodyPr wrap="square" lIns="0" tIns="0" rIns="0" bIns="0" rtlCol="0" anchor="ctr"/>
          <a:lstStyle/>
          <a:p>
            <a:pPr indent="0" marL="0">
              <a:buNone/>
            </a:pPr>
            <a:r>
              <a:rPr lang="en-US" sz="900" dirty="0">
                <a:solidFill>
                  <a:schemeClr val="accent3"/>
                </a:solidFill>
              </a:rPr>
              <a:t>EventDeck  ·  MCA Project Review  ·  SRM Institute of Science &amp; Technology</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ventDeck logo">    </p:cNvPr>
          <p:cNvPicPr>
            <a:picLocks noChangeAspect="1"/>
          </p:cNvPicPr>
          <p:nvPr/>
        </p:nvPicPr>
        <p:blipFill>
          <a:blip r:embed="rId1"/>
          <a:stretch>
            <a:fillRect/>
          </a:stretch>
        </p:blipFill>
        <p:spPr>
          <a:xfrm>
            <a:off x="640080" y="548640"/>
            <a:ext cx="2514600" cy="548640"/>
          </a:xfrm>
          <a:prstGeom prst="rect">
            <a:avLst/>
          </a:prstGeom>
        </p:spPr>
      </p:pic>
      <p:sp>
        <p:nvSpPr>
          <p:cNvPr id="3" name="srm-logo-card"/>
          <p:cNvSpPr/>
          <p:nvPr/>
        </p:nvSpPr>
        <p:spPr>
          <a:xfrm>
            <a:off x="9326880" y="457200"/>
            <a:ext cx="2240280" cy="868680"/>
          </a:xfrm>
          <a:prstGeom prst="roundRect">
            <a:avLst>
              <a:gd name="adj" fmla="val 8421"/>
            </a:avLst>
          </a:prstGeom>
          <a:solidFill>
            <a:schemeClr val="bg1"/>
          </a:solidFill>
          <a:ln w="12700">
            <a:solidFill>
              <a:schemeClr val="bg1"/>
            </a:solidFill>
            <a:prstDash val="solid"/>
          </a:ln>
        </p:spPr>
      </p:sp>
      <p:pic>
        <p:nvPicPr>
          <p:cNvPr id="4" name="Image 1" descr="SRM Institute of Science and Technology logo">    </p:cNvPr>
          <p:cNvPicPr>
            <a:picLocks noChangeAspect="1"/>
          </p:cNvPicPr>
          <p:nvPr/>
        </p:nvPicPr>
        <p:blipFill>
          <a:blip r:embed="rId2"/>
          <a:stretch>
            <a:fillRect/>
          </a:stretch>
        </p:blipFill>
        <p:spPr>
          <a:xfrm>
            <a:off x="9464040" y="548640"/>
            <a:ext cx="1965960" cy="687629"/>
          </a:xfrm>
          <a:prstGeom prst="rect">
            <a:avLst/>
          </a:prstGeom>
        </p:spPr>
      </p:pic>
      <p:sp>
        <p:nvSpPr>
          <p:cNvPr id="5" name="Text 1"/>
          <p:cNvSpPr txBox="1"/>
          <p:nvPr/>
        </p:nvSpPr>
        <p:spPr>
          <a:xfrm>
            <a:off x="640080" y="1600200"/>
            <a:ext cx="82296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MCA PROJECT REVIEW  ·  OCTOBER 2026</a:t>
            </a:r>
            <a:endParaRPr lang="en-US" sz="1200" dirty="0"/>
          </a:p>
        </p:txBody>
      </p:sp>
      <p:sp>
        <p:nvSpPr>
          <p:cNvPr id="6" name="Text 2"/>
          <p:cNvSpPr txBox="1"/>
          <p:nvPr/>
        </p:nvSpPr>
        <p:spPr>
          <a:xfrm>
            <a:off x="640080" y="2011680"/>
            <a:ext cx="10927080" cy="1371600"/>
          </a:xfrm>
          <a:prstGeom prst="rect">
            <a:avLst/>
          </a:prstGeom>
          <a:noFill/>
          <a:ln/>
        </p:spPr>
        <p:txBody>
          <a:bodyPr wrap="square" lIns="0" tIns="0" rIns="0" bIns="0" rtlCol="0" anchor="t"/>
          <a:lstStyle/>
          <a:p>
            <a:pPr indent="0" marL="0">
              <a:lnSpc>
                <a:spcPct val="105000"/>
              </a:lnSpc>
              <a:buNone/>
            </a:pPr>
            <a:r>
              <a:rPr lang="en-US" sz="2800" b="1" dirty="0">
                <a:solidFill>
                  <a:schemeClr val="bg1"/>
                </a:solidFill>
                <a:latin typeface="Cambria" pitchFamily="34" charset="0"/>
                <a:ea typeface="Cambria" pitchFamily="34" charset="-122"/>
                <a:cs typeface="Cambria" pitchFamily="34" charset="-120"/>
              </a:rPr>
              <a:t>EVENTDECK: A UNIVERSITY EVENT TICKETING SYSTEM WITH TRANSACTIONAL SEAT RESERVATION AND QR CHECK-IN</a:t>
            </a:r>
            <a:endParaRPr lang="en-US" sz="2800" dirty="0"/>
          </a:p>
        </p:txBody>
      </p:sp>
      <p:sp>
        <p:nvSpPr>
          <p:cNvPr id="7" name="Text 3"/>
          <p:cNvSpPr txBox="1"/>
          <p:nvPr/>
        </p:nvSpPr>
        <p:spPr>
          <a:xfrm>
            <a:off x="640080" y="3703320"/>
            <a:ext cx="4572000"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SUBMITTED BY</a:t>
            </a:r>
            <a:endParaRPr lang="en-US" sz="1000" dirty="0"/>
          </a:p>
        </p:txBody>
      </p:sp>
      <p:sp>
        <p:nvSpPr>
          <p:cNvPr id="8" name="Text 4"/>
          <p:cNvSpPr txBox="1"/>
          <p:nvPr/>
        </p:nvSpPr>
        <p:spPr>
          <a:xfrm>
            <a:off x="640080" y="4005072"/>
            <a:ext cx="2651760" cy="502920"/>
          </a:xfrm>
          <a:prstGeom prst="rect">
            <a:avLst/>
          </a:prstGeom>
          <a:noFill/>
          <a:ln/>
        </p:spPr>
        <p:txBody>
          <a:bodyPr wrap="square" lIns="0" tIns="0" rIns="0" bIns="0" rtlCol="0" anchor="t"/>
          <a:lstStyle/>
          <a:p>
            <a:pPr indent="0" marL="0">
              <a:buNone/>
            </a:pPr>
            <a:r>
              <a:rPr lang="en-US" sz="1400" b="1" dirty="0">
                <a:solidFill>
                  <a:schemeClr val="bg1"/>
                </a:solidFill>
              </a:rPr>
              <a:t>MATHESHWARAN R</a:t>
            </a:r>
            <a:endParaRPr lang="en-US" sz="1400" dirty="0"/>
          </a:p>
          <a:p>
            <a:pPr indent="0" marL="0">
              <a:buNone/>
            </a:pPr>
            <a:r>
              <a:rPr lang="en-US" sz="1100" dirty="0">
                <a:solidFill>
                  <a:schemeClr val="accent6"/>
                </a:solidFill>
              </a:rPr>
              <a:t>RA2532241010311</a:t>
            </a:r>
            <a:endParaRPr lang="en-US" sz="1400" dirty="0"/>
          </a:p>
        </p:txBody>
      </p:sp>
      <p:sp>
        <p:nvSpPr>
          <p:cNvPr id="9" name="Text 5"/>
          <p:cNvSpPr txBox="1"/>
          <p:nvPr/>
        </p:nvSpPr>
        <p:spPr>
          <a:xfrm>
            <a:off x="3429000" y="4005072"/>
            <a:ext cx="2651760" cy="502920"/>
          </a:xfrm>
          <a:prstGeom prst="rect">
            <a:avLst/>
          </a:prstGeom>
          <a:noFill/>
          <a:ln/>
        </p:spPr>
        <p:txBody>
          <a:bodyPr wrap="square" lIns="0" tIns="0" rIns="0" bIns="0" rtlCol="0" anchor="t"/>
          <a:lstStyle/>
          <a:p>
            <a:pPr indent="0" marL="0">
              <a:buNone/>
            </a:pPr>
            <a:r>
              <a:rPr lang="en-US" sz="1400" b="1" dirty="0">
                <a:solidFill>
                  <a:schemeClr val="bg1"/>
                </a:solidFill>
              </a:rPr>
              <a:t>SUHAS C</a:t>
            </a:r>
            <a:endParaRPr lang="en-US" sz="1400" dirty="0"/>
          </a:p>
          <a:p>
            <a:pPr indent="0" marL="0">
              <a:buNone/>
            </a:pPr>
            <a:r>
              <a:rPr lang="en-US" sz="1100" dirty="0">
                <a:solidFill>
                  <a:schemeClr val="accent6"/>
                </a:solidFill>
              </a:rPr>
              <a:t>RA2532241010312</a:t>
            </a:r>
            <a:endParaRPr lang="en-US" sz="1400" dirty="0"/>
          </a:p>
        </p:txBody>
      </p:sp>
      <p:sp>
        <p:nvSpPr>
          <p:cNvPr id="10" name="Text 6"/>
          <p:cNvSpPr txBox="1"/>
          <p:nvPr/>
        </p:nvSpPr>
        <p:spPr>
          <a:xfrm>
            <a:off x="640080" y="4572000"/>
            <a:ext cx="2651760" cy="502920"/>
          </a:xfrm>
          <a:prstGeom prst="rect">
            <a:avLst/>
          </a:prstGeom>
          <a:noFill/>
          <a:ln/>
        </p:spPr>
        <p:txBody>
          <a:bodyPr wrap="square" lIns="0" tIns="0" rIns="0" bIns="0" rtlCol="0" anchor="t"/>
          <a:lstStyle/>
          <a:p>
            <a:pPr indent="0" marL="0">
              <a:buNone/>
            </a:pPr>
            <a:r>
              <a:rPr lang="en-US" sz="1400" b="1" dirty="0">
                <a:solidFill>
                  <a:schemeClr val="bg1"/>
                </a:solidFill>
              </a:rPr>
              <a:t>NITHYASHREE K</a:t>
            </a:r>
            <a:endParaRPr lang="en-US" sz="1400" dirty="0"/>
          </a:p>
          <a:p>
            <a:pPr indent="0" marL="0">
              <a:buNone/>
            </a:pPr>
            <a:r>
              <a:rPr lang="en-US" sz="1100" dirty="0">
                <a:solidFill>
                  <a:schemeClr val="accent6"/>
                </a:solidFill>
              </a:rPr>
              <a:t>RA2532241010329</a:t>
            </a:r>
            <a:endParaRPr lang="en-US" sz="1400" dirty="0"/>
          </a:p>
        </p:txBody>
      </p:sp>
      <p:sp>
        <p:nvSpPr>
          <p:cNvPr id="11" name="Text 7"/>
          <p:cNvSpPr txBox="1"/>
          <p:nvPr/>
        </p:nvSpPr>
        <p:spPr>
          <a:xfrm>
            <a:off x="3429000" y="4572000"/>
            <a:ext cx="2651760" cy="502920"/>
          </a:xfrm>
          <a:prstGeom prst="rect">
            <a:avLst/>
          </a:prstGeom>
          <a:noFill/>
          <a:ln/>
        </p:spPr>
        <p:txBody>
          <a:bodyPr wrap="square" lIns="0" tIns="0" rIns="0" bIns="0" rtlCol="0" anchor="t"/>
          <a:lstStyle/>
          <a:p>
            <a:pPr indent="0" marL="0">
              <a:buNone/>
            </a:pPr>
            <a:r>
              <a:rPr lang="en-US" sz="1400" b="1" dirty="0">
                <a:solidFill>
                  <a:schemeClr val="bg1"/>
                </a:solidFill>
              </a:rPr>
              <a:t>DEVANANDA E</a:t>
            </a:r>
            <a:endParaRPr lang="en-US" sz="1400" dirty="0"/>
          </a:p>
          <a:p>
            <a:pPr indent="0" marL="0">
              <a:buNone/>
            </a:pPr>
            <a:r>
              <a:rPr lang="en-US" sz="1100" dirty="0">
                <a:solidFill>
                  <a:schemeClr val="accent6"/>
                </a:solidFill>
              </a:rPr>
              <a:t>RA2532241010332</a:t>
            </a:r>
            <a:endParaRPr lang="en-US" sz="1400" dirty="0"/>
          </a:p>
        </p:txBody>
      </p:sp>
      <p:sp>
        <p:nvSpPr>
          <p:cNvPr id="12" name="Text 8"/>
          <p:cNvSpPr txBox="1"/>
          <p:nvPr/>
        </p:nvSpPr>
        <p:spPr>
          <a:xfrm>
            <a:off x="6675120" y="3703320"/>
            <a:ext cx="4572000"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UNDER THE GUIDANCE OF</a:t>
            </a:r>
            <a:endParaRPr lang="en-US" sz="1000" dirty="0"/>
          </a:p>
        </p:txBody>
      </p:sp>
      <p:sp>
        <p:nvSpPr>
          <p:cNvPr id="13" name="Text 9"/>
          <p:cNvSpPr txBox="1"/>
          <p:nvPr/>
        </p:nvSpPr>
        <p:spPr>
          <a:xfrm>
            <a:off x="6675120" y="4005072"/>
            <a:ext cx="4846320" cy="822960"/>
          </a:xfrm>
          <a:prstGeom prst="rect">
            <a:avLst/>
          </a:prstGeom>
          <a:noFill/>
          <a:ln/>
        </p:spPr>
        <p:txBody>
          <a:bodyPr wrap="square" lIns="0" tIns="0" rIns="0" bIns="0" rtlCol="0" anchor="t"/>
          <a:lstStyle/>
          <a:p>
            <a:pPr indent="0" marL="0">
              <a:buNone/>
            </a:pPr>
            <a:r>
              <a:rPr lang="en-US" sz="1500" b="1" dirty="0">
                <a:solidFill>
                  <a:schemeClr val="bg1"/>
                </a:solidFill>
              </a:rPr>
              <a:t>Dr. V. Nisha, M.Sc., M.Phil., PhD.</a:t>
            </a:r>
            <a:endParaRPr lang="en-US" sz="1400" dirty="0"/>
          </a:p>
          <a:p>
            <a:pPr indent="0" marL="0">
              <a:buNone/>
            </a:pPr>
            <a:r>
              <a:rPr lang="en-US" sz="1200" dirty="0">
                <a:solidFill>
                  <a:schemeClr val="accent6"/>
                </a:solidFill>
              </a:rPr>
              <a:t>Assistant Professor, Department of Computer Applications</a:t>
            </a:r>
            <a:endParaRPr lang="en-US" sz="1400" dirty="0"/>
          </a:p>
        </p:txBody>
      </p:sp>
      <p:sp>
        <p:nvSpPr>
          <p:cNvPr id="14" name="divider"/>
          <p:cNvSpPr/>
          <p:nvPr/>
        </p:nvSpPr>
        <p:spPr>
          <a:xfrm>
            <a:off x="640080" y="5394960"/>
            <a:ext cx="10908792" cy="0"/>
          </a:xfrm>
          <a:prstGeom prst="line">
            <a:avLst/>
          </a:prstGeom>
          <a:noFill/>
          <a:ln w="9525">
            <a:solidFill>
              <a:schemeClr val="tx2"/>
            </a:solidFill>
            <a:prstDash val="solid"/>
          </a:ln>
        </p:spPr>
      </p:sp>
      <p:sp>
        <p:nvSpPr>
          <p:cNvPr id="15" name="Text 11"/>
          <p:cNvSpPr txBox="1"/>
          <p:nvPr/>
        </p:nvSpPr>
        <p:spPr>
          <a:xfrm>
            <a:off x="640080" y="5559552"/>
            <a:ext cx="10881360" cy="274320"/>
          </a:xfrm>
          <a:prstGeom prst="rect">
            <a:avLst/>
          </a:prstGeom>
          <a:noFill/>
          <a:ln/>
        </p:spPr>
        <p:txBody>
          <a:bodyPr wrap="square" lIns="0" tIns="0" rIns="0" bIns="0" rtlCol="0" anchor="t"/>
          <a:lstStyle/>
          <a:p>
            <a:pPr indent="0" marL="0">
              <a:buNone/>
            </a:pPr>
            <a:r>
              <a:rPr lang="en-US" sz="1200" dirty="0">
                <a:solidFill>
                  <a:schemeClr val="bg1"/>
                </a:solidFill>
              </a:rPr>
              <a:t>Master of Computer Applications  ·  Department of Computer Applications  ·  Faculty of Science and Humanities</a:t>
            </a:r>
            <a:endParaRPr lang="en-US" sz="1200" dirty="0"/>
          </a:p>
        </p:txBody>
      </p:sp>
      <p:sp>
        <p:nvSpPr>
          <p:cNvPr id="16" name="Text 12"/>
          <p:cNvSpPr txBox="1"/>
          <p:nvPr/>
        </p:nvSpPr>
        <p:spPr>
          <a:xfrm>
            <a:off x="640080" y="5870448"/>
            <a:ext cx="10881360" cy="274320"/>
          </a:xfrm>
          <a:prstGeom prst="rect">
            <a:avLst/>
          </a:prstGeom>
          <a:noFill/>
          <a:ln/>
        </p:spPr>
        <p:txBody>
          <a:bodyPr wrap="square" lIns="0" tIns="0" rIns="0" bIns="0" rtlCol="0" anchor="t"/>
          <a:lstStyle/>
          <a:p>
            <a:pPr indent="0" marL="0">
              <a:buNone/>
            </a:pPr>
            <a:r>
              <a:rPr lang="en-US" sz="1200" dirty="0">
                <a:solidFill>
                  <a:schemeClr val="accent6"/>
                </a:solidFill>
              </a:rPr>
              <a:t>SRM Institute of Science &amp; Technology, Kattankulathur – 603 203, Chennai, Tamil Nadu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ABSTRACT</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One system from event publication to admission</a:t>
            </a:r>
            <a:endParaRPr lang="en-US" sz="3000" dirty="0"/>
          </a:p>
        </p:txBody>
      </p:sp>
      <p:sp>
        <p:nvSpPr>
          <p:cNvPr id="4" name="card"/>
          <p:cNvSpPr/>
          <p:nvPr/>
        </p:nvSpPr>
        <p:spPr>
          <a:xfrm>
            <a:off x="548640" y="1463040"/>
            <a:ext cx="6720840" cy="4709160"/>
          </a:xfrm>
          <a:prstGeom prst="roundRect">
            <a:avLst>
              <a:gd name="adj" fmla="val 1942"/>
            </a:avLst>
          </a:prstGeom>
          <a:solidFill>
            <a:schemeClr val="bg2"/>
          </a:solidFill>
          <a:ln w="9525">
            <a:solidFill>
              <a:schemeClr val="bg2"/>
            </a:solidFill>
            <a:prstDash val="solid"/>
          </a:ln>
        </p:spPr>
      </p:sp>
      <p:sp>
        <p:nvSpPr>
          <p:cNvPr id="5" name="Text 3"/>
          <p:cNvSpPr txBox="1"/>
          <p:nvPr/>
        </p:nvSpPr>
        <p:spPr>
          <a:xfrm>
            <a:off x="868680" y="1737360"/>
            <a:ext cx="6080760" cy="4206240"/>
          </a:xfrm>
          <a:prstGeom prst="rect">
            <a:avLst/>
          </a:prstGeom>
          <a:noFill/>
          <a:ln/>
        </p:spPr>
        <p:txBody>
          <a:bodyPr wrap="square" lIns="0" tIns="0" rIns="0" bIns="0" rtlCol="0" anchor="t"/>
          <a:lstStyle/>
          <a:p>
            <a:pPr algn="l" indent="0" marL="0">
              <a:lnSpc>
                <a:spcPct val="120000"/>
              </a:lnSpc>
              <a:buNone/>
            </a:pPr>
            <a:r>
              <a:rPr lang="en-US" sz="1500" dirty="0">
                <a:solidFill>
                  <a:schemeClr val="tx2"/>
                </a:solidFill>
              </a:rPr>
              <a:t>EventDeck is a web-based event management and ticketing system for a multi-campus university. Built with Next.js, React, TypeScript and Supabase PostgreSQL, it lets students, faculty, alumni and visitors from other colleges discover campus events, book free or paid tickets and receive QR-coded tickets. Organizers publish events with ticket tiers, seat limits, registration and check-in windows, and audience rules for campuses, institutions or participant categories. Seats are reserved inside database transactions, unpaid seats are held for ten minutes, each person may hold at most four tickets per event, and Razorpay test-mode payments are verified on the server. At the venue, organizers and appointed moderators scan tickets, and each ticket is admitted only once. Administrators review organizer applications, cancellations, refunds and payouts and export reports.</a:t>
            </a:r>
            <a:endParaRPr lang="en-US" sz="1500" dirty="0"/>
          </a:p>
        </p:txBody>
      </p:sp>
      <p:sp>
        <p:nvSpPr>
          <p:cNvPr id="6" name="icon-circle"/>
          <p:cNvSpPr/>
          <p:nvPr/>
        </p:nvSpPr>
        <p:spPr>
          <a:xfrm>
            <a:off x="7589520" y="1536192"/>
            <a:ext cx="475488" cy="475488"/>
          </a:xfrm>
          <a:prstGeom prst="ellipse">
            <a:avLst/>
          </a:prstGeom>
          <a:solidFill>
            <a:schemeClr val="accent1"/>
          </a:solidFill>
          <a:ln w="12700">
            <a:solidFill>
              <a:schemeClr val="accent1"/>
            </a:solidFill>
            <a:prstDash val="solid"/>
          </a:ln>
        </p:spPr>
      </p:sp>
      <p:pic>
        <p:nvPicPr>
          <p:cNvPr id="7" name="Image 0" descr="LuTriangleAlert">    </p:cNvPr>
          <p:cNvPicPr>
            <a:picLocks noChangeAspect="1"/>
          </p:cNvPicPr>
          <p:nvPr/>
        </p:nvPicPr>
        <p:blipFill>
          <a:blip r:embed="rId1"/>
          <a:stretch>
            <a:fillRect/>
          </a:stretch>
        </p:blipFill>
        <p:spPr>
          <a:xfrm>
            <a:off x="7703637" y="1650309"/>
            <a:ext cx="247254" cy="247254"/>
          </a:xfrm>
          <a:prstGeom prst="rect">
            <a:avLst/>
          </a:prstGeom>
        </p:spPr>
      </p:pic>
      <p:sp>
        <p:nvSpPr>
          <p:cNvPr id="8" name="Text 5"/>
          <p:cNvSpPr txBox="1"/>
          <p:nvPr/>
        </p:nvSpPr>
        <p:spPr>
          <a:xfrm>
            <a:off x="8229600" y="1463040"/>
            <a:ext cx="3429000" cy="274320"/>
          </a:xfrm>
          <a:prstGeom prst="rect">
            <a:avLst/>
          </a:prstGeom>
          <a:noFill/>
          <a:ln/>
        </p:spPr>
        <p:txBody>
          <a:bodyPr wrap="square" lIns="0" tIns="0" rIns="0" bIns="0" rtlCol="0" anchor="t"/>
          <a:lstStyle/>
          <a:p>
            <a:pPr indent="0" marL="0">
              <a:buNone/>
            </a:pPr>
            <a:r>
              <a:rPr lang="en-US" sz="1400" b="1" dirty="0">
                <a:solidFill>
                  <a:schemeClr val="tx1"/>
                </a:solidFill>
              </a:rPr>
              <a:t>Problem</a:t>
            </a:r>
            <a:endParaRPr lang="en-US" sz="1400" dirty="0"/>
          </a:p>
        </p:txBody>
      </p:sp>
      <p:sp>
        <p:nvSpPr>
          <p:cNvPr id="9" name="Text 6"/>
          <p:cNvSpPr txBox="1"/>
          <p:nvPr/>
        </p:nvSpPr>
        <p:spPr>
          <a:xfrm>
            <a:off x="8229600" y="1755648"/>
            <a:ext cx="3429000" cy="822960"/>
          </a:xfrm>
          <a:prstGeom prst="rect">
            <a:avLst/>
          </a:prstGeom>
          <a:noFill/>
          <a:ln/>
        </p:spPr>
        <p:txBody>
          <a:bodyPr wrap="square" lIns="0" tIns="0" rIns="0" bIns="0" rtlCol="0" anchor="t"/>
          <a:lstStyle/>
          <a:p>
            <a:pPr indent="0" marL="0">
              <a:buNone/>
            </a:pPr>
            <a:r>
              <a:rPr lang="en-US" sz="1250" dirty="0">
                <a:solidFill>
                  <a:schemeClr val="tx2"/>
                </a:solidFill>
              </a:rPr>
              <a:t>Forms, spreadsheets and payment screenshots cannot enforce seats, eligibility or single entry</a:t>
            </a:r>
            <a:endParaRPr lang="en-US" sz="1250" dirty="0"/>
          </a:p>
        </p:txBody>
      </p:sp>
      <p:sp>
        <p:nvSpPr>
          <p:cNvPr id="10" name="icon-circle"/>
          <p:cNvSpPr/>
          <p:nvPr/>
        </p:nvSpPr>
        <p:spPr>
          <a:xfrm>
            <a:off x="7589520" y="2743200"/>
            <a:ext cx="475488" cy="475488"/>
          </a:xfrm>
          <a:prstGeom prst="ellipse">
            <a:avLst/>
          </a:prstGeom>
          <a:solidFill>
            <a:schemeClr val="accent1"/>
          </a:solidFill>
          <a:ln w="12700">
            <a:solidFill>
              <a:schemeClr val="accent1"/>
            </a:solidFill>
            <a:prstDash val="solid"/>
          </a:ln>
        </p:spPr>
      </p:sp>
      <p:pic>
        <p:nvPicPr>
          <p:cNvPr id="11" name="Image 1" descr="LuLayers">    </p:cNvPr>
          <p:cNvPicPr>
            <a:picLocks noChangeAspect="1"/>
          </p:cNvPicPr>
          <p:nvPr/>
        </p:nvPicPr>
        <p:blipFill>
          <a:blip r:embed="rId2"/>
          <a:stretch>
            <a:fillRect/>
          </a:stretch>
        </p:blipFill>
        <p:spPr>
          <a:xfrm>
            <a:off x="7703637" y="2857317"/>
            <a:ext cx="247254" cy="247254"/>
          </a:xfrm>
          <a:prstGeom prst="rect">
            <a:avLst/>
          </a:prstGeom>
        </p:spPr>
      </p:pic>
      <p:sp>
        <p:nvSpPr>
          <p:cNvPr id="12" name="Text 8"/>
          <p:cNvSpPr txBox="1"/>
          <p:nvPr/>
        </p:nvSpPr>
        <p:spPr>
          <a:xfrm>
            <a:off x="8229600" y="2670048"/>
            <a:ext cx="3429000" cy="274320"/>
          </a:xfrm>
          <a:prstGeom prst="rect">
            <a:avLst/>
          </a:prstGeom>
          <a:noFill/>
          <a:ln/>
        </p:spPr>
        <p:txBody>
          <a:bodyPr wrap="square" lIns="0" tIns="0" rIns="0" bIns="0" rtlCol="0" anchor="t"/>
          <a:lstStyle/>
          <a:p>
            <a:pPr indent="0" marL="0">
              <a:buNone/>
            </a:pPr>
            <a:r>
              <a:rPr lang="en-US" sz="1400" b="1" dirty="0">
                <a:solidFill>
                  <a:schemeClr val="tx1"/>
                </a:solidFill>
              </a:rPr>
              <a:t>Approach</a:t>
            </a:r>
            <a:endParaRPr lang="en-US" sz="1400" dirty="0"/>
          </a:p>
        </p:txBody>
      </p:sp>
      <p:sp>
        <p:nvSpPr>
          <p:cNvPr id="13" name="Text 9"/>
          <p:cNvSpPr txBox="1"/>
          <p:nvPr/>
        </p:nvSpPr>
        <p:spPr>
          <a:xfrm>
            <a:off x="8229600" y="2962656"/>
            <a:ext cx="3429000" cy="822960"/>
          </a:xfrm>
          <a:prstGeom prst="rect">
            <a:avLst/>
          </a:prstGeom>
          <a:noFill/>
          <a:ln/>
        </p:spPr>
        <p:txBody>
          <a:bodyPr wrap="square" lIns="0" tIns="0" rIns="0" bIns="0" rtlCol="0" anchor="t"/>
          <a:lstStyle/>
          <a:p>
            <a:pPr indent="0" marL="0">
              <a:buNone/>
            </a:pPr>
            <a:r>
              <a:rPr lang="en-US" sz="1250" dirty="0">
                <a:solidFill>
                  <a:schemeClr val="tx2"/>
                </a:solidFill>
              </a:rPr>
              <a:t>Server-authoritative rules, database transactions and constraints, row-level security</a:t>
            </a:r>
            <a:endParaRPr lang="en-US" sz="1250" dirty="0"/>
          </a:p>
        </p:txBody>
      </p:sp>
      <p:sp>
        <p:nvSpPr>
          <p:cNvPr id="14" name="icon-circle"/>
          <p:cNvSpPr/>
          <p:nvPr/>
        </p:nvSpPr>
        <p:spPr>
          <a:xfrm>
            <a:off x="7589520" y="3950208"/>
            <a:ext cx="475488" cy="475488"/>
          </a:xfrm>
          <a:prstGeom prst="ellipse">
            <a:avLst/>
          </a:prstGeom>
          <a:solidFill>
            <a:schemeClr val="accent1"/>
          </a:solidFill>
          <a:ln w="12700">
            <a:solidFill>
              <a:schemeClr val="accent1"/>
            </a:solidFill>
            <a:prstDash val="solid"/>
          </a:ln>
        </p:spPr>
      </p:sp>
      <p:pic>
        <p:nvPicPr>
          <p:cNvPr id="15" name="Image 2" descr="LuTicket">    </p:cNvPr>
          <p:cNvPicPr>
            <a:picLocks noChangeAspect="1"/>
          </p:cNvPicPr>
          <p:nvPr/>
        </p:nvPicPr>
        <p:blipFill>
          <a:blip r:embed="rId3"/>
          <a:stretch>
            <a:fillRect/>
          </a:stretch>
        </p:blipFill>
        <p:spPr>
          <a:xfrm>
            <a:off x="7703637" y="4064325"/>
            <a:ext cx="247254" cy="247254"/>
          </a:xfrm>
          <a:prstGeom prst="rect">
            <a:avLst/>
          </a:prstGeom>
        </p:spPr>
      </p:pic>
      <p:sp>
        <p:nvSpPr>
          <p:cNvPr id="16" name="Text 11"/>
          <p:cNvSpPr txBox="1"/>
          <p:nvPr/>
        </p:nvSpPr>
        <p:spPr>
          <a:xfrm>
            <a:off x="8229600" y="3877056"/>
            <a:ext cx="3429000" cy="274320"/>
          </a:xfrm>
          <a:prstGeom prst="rect">
            <a:avLst/>
          </a:prstGeom>
          <a:noFill/>
          <a:ln/>
        </p:spPr>
        <p:txBody>
          <a:bodyPr wrap="square" lIns="0" tIns="0" rIns="0" bIns="0" rtlCol="0" anchor="t"/>
          <a:lstStyle/>
          <a:p>
            <a:pPr indent="0" marL="0">
              <a:buNone/>
            </a:pPr>
            <a:r>
              <a:rPr lang="en-US" sz="1400" b="1" dirty="0">
                <a:solidFill>
                  <a:schemeClr val="tx1"/>
                </a:solidFill>
              </a:rPr>
              <a:t>Capabilities</a:t>
            </a:r>
            <a:endParaRPr lang="en-US" sz="1400" dirty="0"/>
          </a:p>
        </p:txBody>
      </p:sp>
      <p:sp>
        <p:nvSpPr>
          <p:cNvPr id="17" name="Text 12"/>
          <p:cNvSpPr txBox="1"/>
          <p:nvPr/>
        </p:nvSpPr>
        <p:spPr>
          <a:xfrm>
            <a:off x="8229600" y="4169664"/>
            <a:ext cx="3429000" cy="822960"/>
          </a:xfrm>
          <a:prstGeom prst="rect">
            <a:avLst/>
          </a:prstGeom>
          <a:noFill/>
          <a:ln/>
        </p:spPr>
        <p:txBody>
          <a:bodyPr wrap="square" lIns="0" tIns="0" rIns="0" bIns="0" rtlCol="0" anchor="t"/>
          <a:lstStyle/>
          <a:p>
            <a:pPr indent="0" marL="0">
              <a:buNone/>
            </a:pPr>
            <a:r>
              <a:rPr lang="en-US" sz="1250" dirty="0">
                <a:solidFill>
                  <a:schemeClr val="tx2"/>
                </a:solidFill>
              </a:rPr>
              <a:t>Tiers and audience rules, holds, verified payments, QR tickets, moderators, refunds, payouts</a:t>
            </a:r>
            <a:endParaRPr lang="en-US" sz="1250" dirty="0"/>
          </a:p>
        </p:txBody>
      </p:sp>
      <p:sp>
        <p:nvSpPr>
          <p:cNvPr id="18" name="icon-circle"/>
          <p:cNvSpPr/>
          <p:nvPr/>
        </p:nvSpPr>
        <p:spPr>
          <a:xfrm>
            <a:off x="7589520" y="5157216"/>
            <a:ext cx="475488" cy="475488"/>
          </a:xfrm>
          <a:prstGeom prst="ellipse">
            <a:avLst/>
          </a:prstGeom>
          <a:solidFill>
            <a:schemeClr val="accent1"/>
          </a:solidFill>
          <a:ln w="12700">
            <a:solidFill>
              <a:schemeClr val="accent1"/>
            </a:solidFill>
            <a:prstDash val="solid"/>
          </a:ln>
        </p:spPr>
      </p:sp>
      <p:pic>
        <p:nvPicPr>
          <p:cNvPr id="19" name="Image 3" descr="LuCircleCheck">    </p:cNvPr>
          <p:cNvPicPr>
            <a:picLocks noChangeAspect="1"/>
          </p:cNvPicPr>
          <p:nvPr/>
        </p:nvPicPr>
        <p:blipFill>
          <a:blip r:embed="rId4"/>
          <a:stretch>
            <a:fillRect/>
          </a:stretch>
        </p:blipFill>
        <p:spPr>
          <a:xfrm>
            <a:off x="7703637" y="5271333"/>
            <a:ext cx="247254" cy="247254"/>
          </a:xfrm>
          <a:prstGeom prst="rect">
            <a:avLst/>
          </a:prstGeom>
        </p:spPr>
      </p:pic>
      <p:sp>
        <p:nvSpPr>
          <p:cNvPr id="20" name="Text 14"/>
          <p:cNvSpPr txBox="1"/>
          <p:nvPr/>
        </p:nvSpPr>
        <p:spPr>
          <a:xfrm>
            <a:off x="8229600" y="5084064"/>
            <a:ext cx="3429000" cy="274320"/>
          </a:xfrm>
          <a:prstGeom prst="rect">
            <a:avLst/>
          </a:prstGeom>
          <a:noFill/>
          <a:ln/>
        </p:spPr>
        <p:txBody>
          <a:bodyPr wrap="square" lIns="0" tIns="0" rIns="0" bIns="0" rtlCol="0" anchor="t"/>
          <a:lstStyle/>
          <a:p>
            <a:pPr indent="0" marL="0">
              <a:buNone/>
            </a:pPr>
            <a:r>
              <a:rPr lang="en-US" sz="1400" b="1" dirty="0">
                <a:solidFill>
                  <a:schemeClr val="tx1"/>
                </a:solidFill>
              </a:rPr>
              <a:t>Outcome</a:t>
            </a:r>
            <a:endParaRPr lang="en-US" sz="1400" dirty="0"/>
          </a:p>
        </p:txBody>
      </p:sp>
      <p:sp>
        <p:nvSpPr>
          <p:cNvPr id="21" name="Text 15"/>
          <p:cNvSpPr txBox="1"/>
          <p:nvPr/>
        </p:nvSpPr>
        <p:spPr>
          <a:xfrm>
            <a:off x="8229600" y="5376672"/>
            <a:ext cx="3429000" cy="822960"/>
          </a:xfrm>
          <a:prstGeom prst="rect">
            <a:avLst/>
          </a:prstGeom>
          <a:noFill/>
          <a:ln/>
        </p:spPr>
        <p:txBody>
          <a:bodyPr wrap="square" lIns="0" tIns="0" rIns="0" bIns="0" rtlCol="0" anchor="t"/>
          <a:lstStyle/>
          <a:p>
            <a:pPr indent="0" marL="0">
              <a:buNone/>
            </a:pPr>
            <a:r>
              <a:rPr lang="en-US" sz="1250" dirty="0">
                <a:solidFill>
                  <a:schemeClr val="tx2"/>
                </a:solidFill>
              </a:rPr>
              <a:t>No overselling, trustworthy payments, and an auditable record of every booking</a:t>
            </a:r>
            <a:endParaRPr lang="en-US" sz="12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INTRODUCTION &amp; PROBLEM STATEMENT</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Campus events outgrew forms and screenshots</a:t>
            </a:r>
            <a:endParaRPr lang="en-US" sz="3000" dirty="0"/>
          </a:p>
        </p:txBody>
      </p:sp>
      <p:sp>
        <p:nvSpPr>
          <p:cNvPr id="4" name="Text 2"/>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1400" dirty="0">
                <a:solidFill>
                  <a:schemeClr val="tx2"/>
                </a:solidFill>
              </a:rPr>
              <a:t>Domain: event management for a multi-campus university. SRM has students, faculty, staff and alumni across Kattankulathur, Ramapuram and Vadapalani, and many events welcome other colleges and the public.</a:t>
            </a:r>
            <a:endParaRPr lang="en-US" sz="1400" dirty="0"/>
          </a:p>
        </p:txBody>
      </p:sp>
      <p:sp>
        <p:nvSpPr>
          <p:cNvPr id="5" name="Text 3"/>
          <p:cNvSpPr txBox="1"/>
          <p:nvPr/>
        </p:nvSpPr>
        <p:spPr>
          <a:xfrm>
            <a:off x="548640" y="2148840"/>
            <a:ext cx="45720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TODAY</a:t>
            </a:r>
            <a:endParaRPr lang="en-US" sz="1100" dirty="0"/>
          </a:p>
        </p:txBody>
      </p:sp>
      <p:sp>
        <p:nvSpPr>
          <p:cNvPr id="6" name="icon-circle"/>
          <p:cNvSpPr/>
          <p:nvPr/>
        </p:nvSpPr>
        <p:spPr>
          <a:xfrm>
            <a:off x="548640" y="2514600"/>
            <a:ext cx="457200" cy="457200"/>
          </a:xfrm>
          <a:prstGeom prst="ellipse">
            <a:avLst/>
          </a:prstGeom>
          <a:solidFill>
            <a:schemeClr val="bg2"/>
          </a:solidFill>
          <a:ln w="12700">
            <a:solidFill>
              <a:schemeClr val="bg2"/>
            </a:solidFill>
            <a:prstDash val="solid"/>
          </a:ln>
        </p:spPr>
      </p:sp>
      <p:pic>
        <p:nvPicPr>
          <p:cNvPr id="7" name="Image 0" descr="LuUsers">    </p:cNvPr>
          <p:cNvPicPr>
            <a:picLocks noChangeAspect="1"/>
          </p:cNvPicPr>
          <p:nvPr/>
        </p:nvPicPr>
        <p:blipFill>
          <a:blip r:embed="rId1"/>
          <a:stretch>
            <a:fillRect/>
          </a:stretch>
        </p:blipFill>
        <p:spPr>
          <a:xfrm>
            <a:off x="658368" y="2624328"/>
            <a:ext cx="237744" cy="237744"/>
          </a:xfrm>
          <a:prstGeom prst="rect">
            <a:avLst/>
          </a:prstGeom>
        </p:spPr>
      </p:pic>
      <p:sp>
        <p:nvSpPr>
          <p:cNvPr id="8" name="Text 5"/>
          <p:cNvSpPr txBox="1"/>
          <p:nvPr/>
        </p:nvSpPr>
        <p:spPr>
          <a:xfrm>
            <a:off x="1188720" y="2400300"/>
            <a:ext cx="4754880" cy="685800"/>
          </a:xfrm>
          <a:prstGeom prst="rect">
            <a:avLst/>
          </a:prstGeom>
          <a:noFill/>
          <a:ln/>
        </p:spPr>
        <p:txBody>
          <a:bodyPr wrap="square" lIns="0" tIns="0" rIns="0" bIns="0" rtlCol="0" anchor="ctr"/>
          <a:lstStyle/>
          <a:p>
            <a:pPr indent="0" marL="0">
              <a:buNone/>
            </a:pPr>
            <a:r>
              <a:rPr lang="en-US" sz="1400" dirty="0">
                <a:solidFill>
                  <a:schemeClr val="tx1"/>
                </a:solidFill>
              </a:rPr>
              <a:t>Seat limits are not checked when a form is submitted, so events get overbooked</a:t>
            </a:r>
            <a:endParaRPr lang="en-US" sz="1400" dirty="0"/>
          </a:p>
        </p:txBody>
      </p:sp>
      <p:sp>
        <p:nvSpPr>
          <p:cNvPr id="9" name="icon-circle"/>
          <p:cNvSpPr/>
          <p:nvPr/>
        </p:nvSpPr>
        <p:spPr>
          <a:xfrm>
            <a:off x="548640" y="3383280"/>
            <a:ext cx="457200" cy="457200"/>
          </a:xfrm>
          <a:prstGeom prst="ellipse">
            <a:avLst/>
          </a:prstGeom>
          <a:solidFill>
            <a:schemeClr val="bg2"/>
          </a:solidFill>
          <a:ln w="12700">
            <a:solidFill>
              <a:schemeClr val="bg2"/>
            </a:solidFill>
            <a:prstDash val="solid"/>
          </a:ln>
        </p:spPr>
      </p:sp>
      <p:pic>
        <p:nvPicPr>
          <p:cNvPr id="10" name="Image 1" descr="LuCreditCard">    </p:cNvPr>
          <p:cNvPicPr>
            <a:picLocks noChangeAspect="1"/>
          </p:cNvPicPr>
          <p:nvPr/>
        </p:nvPicPr>
        <p:blipFill>
          <a:blip r:embed="rId2"/>
          <a:stretch>
            <a:fillRect/>
          </a:stretch>
        </p:blipFill>
        <p:spPr>
          <a:xfrm>
            <a:off x="658368" y="3493008"/>
            <a:ext cx="237744" cy="237744"/>
          </a:xfrm>
          <a:prstGeom prst="rect">
            <a:avLst/>
          </a:prstGeom>
        </p:spPr>
      </p:pic>
      <p:sp>
        <p:nvSpPr>
          <p:cNvPr id="11" name="Text 7"/>
          <p:cNvSpPr txBox="1"/>
          <p:nvPr/>
        </p:nvSpPr>
        <p:spPr>
          <a:xfrm>
            <a:off x="1188720" y="3268980"/>
            <a:ext cx="4754880" cy="685800"/>
          </a:xfrm>
          <a:prstGeom prst="rect">
            <a:avLst/>
          </a:prstGeom>
          <a:noFill/>
          <a:ln/>
        </p:spPr>
        <p:txBody>
          <a:bodyPr wrap="square" lIns="0" tIns="0" rIns="0" bIns="0" rtlCol="0" anchor="ctr"/>
          <a:lstStyle/>
          <a:p>
            <a:pPr indent="0" marL="0">
              <a:buNone/>
            </a:pPr>
            <a:r>
              <a:rPr lang="en-US" sz="1400" dirty="0">
                <a:solidFill>
                  <a:schemeClr val="tx1"/>
                </a:solidFill>
              </a:rPr>
              <a:t>Payments are verified from screenshots that can be edited or reused</a:t>
            </a:r>
            <a:endParaRPr lang="en-US" sz="1400" dirty="0"/>
          </a:p>
        </p:txBody>
      </p:sp>
      <p:sp>
        <p:nvSpPr>
          <p:cNvPr id="12" name="icon-circle"/>
          <p:cNvSpPr/>
          <p:nvPr/>
        </p:nvSpPr>
        <p:spPr>
          <a:xfrm>
            <a:off x="548640" y="4251960"/>
            <a:ext cx="457200" cy="457200"/>
          </a:xfrm>
          <a:prstGeom prst="ellipse">
            <a:avLst/>
          </a:prstGeom>
          <a:solidFill>
            <a:schemeClr val="bg2"/>
          </a:solidFill>
          <a:ln w="12700">
            <a:solidFill>
              <a:schemeClr val="bg2"/>
            </a:solidFill>
            <a:prstDash val="solid"/>
          </a:ln>
        </p:spPr>
      </p:sp>
      <p:pic>
        <p:nvPicPr>
          <p:cNvPr id="13" name="Image 2" descr="LuBuilding2">    </p:cNvPr>
          <p:cNvPicPr>
            <a:picLocks noChangeAspect="1"/>
          </p:cNvPicPr>
          <p:nvPr/>
        </p:nvPicPr>
        <p:blipFill>
          <a:blip r:embed="rId3"/>
          <a:stretch>
            <a:fillRect/>
          </a:stretch>
        </p:blipFill>
        <p:spPr>
          <a:xfrm>
            <a:off x="658368" y="4361688"/>
            <a:ext cx="237744" cy="237744"/>
          </a:xfrm>
          <a:prstGeom prst="rect">
            <a:avLst/>
          </a:prstGeom>
        </p:spPr>
      </p:pic>
      <p:sp>
        <p:nvSpPr>
          <p:cNvPr id="14" name="Text 9"/>
          <p:cNvSpPr txBox="1"/>
          <p:nvPr/>
        </p:nvSpPr>
        <p:spPr>
          <a:xfrm>
            <a:off x="1188720" y="4137660"/>
            <a:ext cx="4754880" cy="685800"/>
          </a:xfrm>
          <a:prstGeom prst="rect">
            <a:avLst/>
          </a:prstGeom>
          <a:noFill/>
          <a:ln/>
        </p:spPr>
        <p:txBody>
          <a:bodyPr wrap="square" lIns="0" tIns="0" rIns="0" bIns="0" rtlCol="0" anchor="ctr"/>
          <a:lstStyle/>
          <a:p>
            <a:pPr indent="0" marL="0">
              <a:buNone/>
            </a:pPr>
            <a:r>
              <a:rPr lang="en-US" sz="1400" dirty="0">
                <a:solidFill>
                  <a:schemeClr val="tx1"/>
                </a:solidFill>
              </a:rPr>
              <a:t>Campus or college eligibility depends on what applicants type</a:t>
            </a:r>
            <a:endParaRPr lang="en-US" sz="1400" dirty="0"/>
          </a:p>
        </p:txBody>
      </p:sp>
      <p:sp>
        <p:nvSpPr>
          <p:cNvPr id="15" name="icon-circle"/>
          <p:cNvSpPr/>
          <p:nvPr/>
        </p:nvSpPr>
        <p:spPr>
          <a:xfrm>
            <a:off x="548640" y="5120640"/>
            <a:ext cx="457200" cy="457200"/>
          </a:xfrm>
          <a:prstGeom prst="ellipse">
            <a:avLst/>
          </a:prstGeom>
          <a:solidFill>
            <a:schemeClr val="bg2"/>
          </a:solidFill>
          <a:ln w="12700">
            <a:solidFill>
              <a:schemeClr val="bg2"/>
            </a:solidFill>
            <a:prstDash val="solid"/>
          </a:ln>
        </p:spPr>
      </p:sp>
      <p:pic>
        <p:nvPicPr>
          <p:cNvPr id="16" name="Image 3" descr="LuCopy">    </p:cNvPr>
          <p:cNvPicPr>
            <a:picLocks noChangeAspect="1"/>
          </p:cNvPicPr>
          <p:nvPr/>
        </p:nvPicPr>
        <p:blipFill>
          <a:blip r:embed="rId4"/>
          <a:stretch>
            <a:fillRect/>
          </a:stretch>
        </p:blipFill>
        <p:spPr>
          <a:xfrm>
            <a:off x="658368" y="5230368"/>
            <a:ext cx="237744" cy="237744"/>
          </a:xfrm>
          <a:prstGeom prst="rect">
            <a:avLst/>
          </a:prstGeom>
        </p:spPr>
      </p:pic>
      <p:sp>
        <p:nvSpPr>
          <p:cNvPr id="17" name="Text 11"/>
          <p:cNvSpPr txBox="1"/>
          <p:nvPr/>
        </p:nvSpPr>
        <p:spPr>
          <a:xfrm>
            <a:off x="1188720" y="5006340"/>
            <a:ext cx="4754880" cy="685800"/>
          </a:xfrm>
          <a:prstGeom prst="rect">
            <a:avLst/>
          </a:prstGeom>
          <a:noFill/>
          <a:ln/>
        </p:spPr>
        <p:txBody>
          <a:bodyPr wrap="square" lIns="0" tIns="0" rIns="0" bIns="0" rtlCol="0" anchor="ctr"/>
          <a:lstStyle/>
          <a:p>
            <a:pPr indent="0" marL="0">
              <a:buNone/>
            </a:pPr>
            <a:r>
              <a:rPr lang="en-US" sz="1400" dirty="0">
                <a:solidFill>
                  <a:schemeClr val="tx1"/>
                </a:solidFill>
              </a:rPr>
              <a:t>Passes can be copied and shown twice at different gates</a:t>
            </a:r>
            <a:endParaRPr lang="en-US" sz="1400" dirty="0"/>
          </a:p>
        </p:txBody>
      </p:sp>
      <p:pic>
        <p:nvPicPr>
          <p:cNvPr id="18" name="Image 4" descr="leads to">    </p:cNvPr>
          <p:cNvPicPr>
            <a:picLocks noChangeAspect="1"/>
          </p:cNvPicPr>
          <p:nvPr/>
        </p:nvPicPr>
        <p:blipFill>
          <a:blip r:embed="rId5"/>
          <a:stretch>
            <a:fillRect/>
          </a:stretch>
        </p:blipFill>
        <p:spPr>
          <a:xfrm>
            <a:off x="6080760" y="3749040"/>
            <a:ext cx="457200" cy="457200"/>
          </a:xfrm>
          <a:prstGeom prst="rect">
            <a:avLst/>
          </a:prstGeom>
        </p:spPr>
      </p:pic>
      <p:sp>
        <p:nvSpPr>
          <p:cNvPr id="19" name="card"/>
          <p:cNvSpPr/>
          <p:nvPr/>
        </p:nvSpPr>
        <p:spPr>
          <a:xfrm>
            <a:off x="6720840" y="2148840"/>
            <a:ext cx="4892040" cy="4023360"/>
          </a:xfrm>
          <a:prstGeom prst="roundRect">
            <a:avLst>
              <a:gd name="adj" fmla="val 2273"/>
            </a:avLst>
          </a:prstGeom>
          <a:solidFill>
            <a:schemeClr val="tx1"/>
          </a:solidFill>
          <a:ln w="9525">
            <a:solidFill>
              <a:schemeClr val="tx1"/>
            </a:solidFill>
            <a:prstDash val="solid"/>
          </a:ln>
        </p:spPr>
      </p:sp>
      <p:sp>
        <p:nvSpPr>
          <p:cNvPr id="20" name="Text 13"/>
          <p:cNvSpPr txBox="1"/>
          <p:nvPr/>
        </p:nvSpPr>
        <p:spPr>
          <a:xfrm>
            <a:off x="7040880" y="2395728"/>
            <a:ext cx="42976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PROBLEM STATEMENT</a:t>
            </a:r>
            <a:endParaRPr lang="en-US" sz="1100" dirty="0"/>
          </a:p>
        </p:txBody>
      </p:sp>
      <p:sp>
        <p:nvSpPr>
          <p:cNvPr id="21" name="Text 14"/>
          <p:cNvSpPr txBox="1"/>
          <p:nvPr/>
        </p:nvSpPr>
        <p:spPr>
          <a:xfrm>
            <a:off x="7040880" y="2761488"/>
            <a:ext cx="4297680" cy="2377440"/>
          </a:xfrm>
          <a:prstGeom prst="rect">
            <a:avLst/>
          </a:prstGeom>
          <a:noFill/>
          <a:ln/>
        </p:spPr>
        <p:txBody>
          <a:bodyPr wrap="square" lIns="0" tIns="0" rIns="0" bIns="0" rtlCol="0" anchor="t"/>
          <a:lstStyle/>
          <a:p>
            <a:pPr indent="0" marL="0">
              <a:lnSpc>
                <a:spcPct val="115000"/>
              </a:lnSpc>
              <a:buNone/>
            </a:pPr>
            <a:r>
              <a:rPr lang="en-US" sz="1700" dirty="0">
                <a:solidFill>
                  <a:schemeClr val="bg1"/>
                </a:solidFill>
                <a:latin typeface="Cambria" pitchFamily="34" charset="0"/>
                <a:ea typeface="Cambria" pitchFamily="34" charset="-122"/>
                <a:cs typeface="Cambria" pitchFamily="34" charset="-120"/>
              </a:rPr>
              <a:t>Design and build a university ticketing system that never issues more tickets than seats, applies audience rules from trusted profiles, verifies payments with the provider, and admits each ticket exactly once, even when several moderators scan at the same time.</a:t>
            </a:r>
            <a:endParaRPr lang="en-US" sz="1700" dirty="0"/>
          </a:p>
        </p:txBody>
      </p:sp>
      <p:sp>
        <p:nvSpPr>
          <p:cNvPr id="22" name="Text 15"/>
          <p:cNvSpPr txBox="1"/>
          <p:nvPr/>
        </p:nvSpPr>
        <p:spPr>
          <a:xfrm>
            <a:off x="7040880" y="5257800"/>
            <a:ext cx="4297680" cy="685800"/>
          </a:xfrm>
          <a:prstGeom prst="rect">
            <a:avLst/>
          </a:prstGeom>
          <a:noFill/>
          <a:ln/>
        </p:spPr>
        <p:txBody>
          <a:bodyPr wrap="square" lIns="0" tIns="0" rIns="0" bIns="0" rtlCol="0" anchor="t"/>
          <a:lstStyle/>
          <a:p>
            <a:pPr indent="0" marL="0">
              <a:buNone/>
            </a:pPr>
            <a:r>
              <a:rPr lang="en-US" sz="1250" dirty="0">
                <a:solidFill>
                  <a:schemeClr val="accent6"/>
                </a:solidFill>
              </a:rPr>
              <a:t>Why it matters: fairness for attendees, trustworthy money handling, and safe, fast entry at the door.</a:t>
            </a:r>
            <a:endParaRPr lang="en-US" sz="12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OBJECTIVES &amp; SCOPE</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we set out to build, and where it stops</a:t>
            </a:r>
            <a:endParaRPr lang="en-US" sz="3000" dirty="0"/>
          </a:p>
        </p:txBody>
      </p:sp>
      <p:sp>
        <p:nvSpPr>
          <p:cNvPr id="4" name="card"/>
          <p:cNvSpPr/>
          <p:nvPr/>
        </p:nvSpPr>
        <p:spPr>
          <a:xfrm>
            <a:off x="548640" y="1463040"/>
            <a:ext cx="3520440" cy="4709160"/>
          </a:xfrm>
          <a:prstGeom prst="roundRect">
            <a:avLst>
              <a:gd name="adj" fmla="val 2597"/>
            </a:avLst>
          </a:prstGeom>
          <a:solidFill>
            <a:schemeClr val="bg2"/>
          </a:solidFill>
          <a:ln w="12700">
            <a:solidFill>
              <a:schemeClr val="bg2"/>
            </a:solidFill>
            <a:prstDash val="solid"/>
          </a:ln>
        </p:spPr>
      </p:sp>
      <p:sp>
        <p:nvSpPr>
          <p:cNvPr id="5" name="icon-circle"/>
          <p:cNvSpPr/>
          <p:nvPr/>
        </p:nvSpPr>
        <p:spPr>
          <a:xfrm>
            <a:off x="822960" y="1719072"/>
            <a:ext cx="457200" cy="457200"/>
          </a:xfrm>
          <a:prstGeom prst="ellipse">
            <a:avLst/>
          </a:prstGeom>
          <a:solidFill>
            <a:schemeClr val="accent1"/>
          </a:solidFill>
          <a:ln w="12700">
            <a:solidFill>
              <a:schemeClr val="accent1"/>
            </a:solidFill>
            <a:prstDash val="solid"/>
          </a:ln>
        </p:spPr>
      </p:sp>
      <p:pic>
        <p:nvPicPr>
          <p:cNvPr id="6" name="Image 0" descr="LuTarget">    </p:cNvPr>
          <p:cNvPicPr>
            <a:picLocks noChangeAspect="1"/>
          </p:cNvPicPr>
          <p:nvPr/>
        </p:nvPicPr>
        <p:blipFill>
          <a:blip r:embed="rId1"/>
          <a:stretch>
            <a:fillRect/>
          </a:stretch>
        </p:blipFill>
        <p:spPr>
          <a:xfrm>
            <a:off x="932688" y="1828800"/>
            <a:ext cx="237744" cy="237744"/>
          </a:xfrm>
          <a:prstGeom prst="rect">
            <a:avLst/>
          </a:prstGeom>
        </p:spPr>
      </p:pic>
      <p:sp>
        <p:nvSpPr>
          <p:cNvPr id="7" name="Text 4"/>
          <p:cNvSpPr txBox="1"/>
          <p:nvPr/>
        </p:nvSpPr>
        <p:spPr>
          <a:xfrm>
            <a:off x="1417320" y="1783080"/>
            <a:ext cx="2514600" cy="365760"/>
          </a:xfrm>
          <a:prstGeom prst="rect">
            <a:avLst/>
          </a:prstGeom>
          <a:noFill/>
          <a:ln/>
        </p:spPr>
        <p:txBody>
          <a:bodyPr wrap="square" lIns="0" tIns="0" rIns="0" bIns="0" rtlCol="0" anchor="ctr"/>
          <a:lstStyle/>
          <a:p>
            <a:pPr indent="0" marL="0">
              <a:buNone/>
            </a:pPr>
            <a:r>
              <a:rPr lang="en-US" sz="1600" b="1" dirty="0">
                <a:solidFill>
                  <a:schemeClr val="tx1"/>
                </a:solidFill>
              </a:rPr>
              <a:t>Primary objectives</a:t>
            </a:r>
            <a:endParaRPr lang="en-US" sz="1600" dirty="0"/>
          </a:p>
        </p:txBody>
      </p:sp>
      <p:sp>
        <p:nvSpPr>
          <p:cNvPr id="8" name="Text 5"/>
          <p:cNvSpPr txBox="1"/>
          <p:nvPr/>
        </p:nvSpPr>
        <p:spPr>
          <a:xfrm>
            <a:off x="822960" y="2423160"/>
            <a:ext cx="3017520" cy="361188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chemeClr val="tx2"/>
                </a:solidFill>
              </a:rPr>
              <a:t>Verified onboarding for SRM campuses, other colleges and guests; organizer access by admin approval</a:t>
            </a:r>
            <a:endParaRPr lang="en-US" sz="1400" dirty="0"/>
          </a:p>
          <a:p>
            <a:pPr marL="177800" indent="-177800">
              <a:spcAft>
                <a:spcPts val="1200"/>
              </a:spcAft>
              <a:buSzPct val="100000"/>
              <a:buChar char="•"/>
            </a:pPr>
            <a:r>
              <a:rPr lang="en-US" sz="1400" dirty="0">
                <a:solidFill>
                  <a:schemeClr val="tx2"/>
                </a:solidFill>
              </a:rPr>
              <a:t>Events with tiers, windows and audience rules</a:t>
            </a:r>
            <a:endParaRPr lang="en-US" sz="1400" dirty="0"/>
          </a:p>
          <a:p>
            <a:pPr marL="177800" indent="-177800">
              <a:spcAft>
                <a:spcPts val="1200"/>
              </a:spcAft>
              <a:buSzPct val="100000"/>
              <a:buChar char="•"/>
            </a:pPr>
            <a:r>
              <a:rPr lang="en-US" sz="1400" dirty="0">
                <a:solidFill>
                  <a:schemeClr val="tx2"/>
                </a:solidFill>
              </a:rPr>
              <a:t>Transactional booking: atomic seats, 4 per person, 10-minute holds</a:t>
            </a:r>
            <a:endParaRPr lang="en-US" sz="1400" dirty="0"/>
          </a:p>
          <a:p>
            <a:pPr marL="177800" indent="-177800">
              <a:spcAft>
                <a:spcPts val="1200"/>
              </a:spcAft>
              <a:buSzPct val="100000"/>
              <a:buChar char="•"/>
            </a:pPr>
            <a:r>
              <a:rPr lang="en-US" sz="1400" dirty="0">
                <a:solidFill>
                  <a:schemeClr val="tx2"/>
                </a:solidFill>
              </a:rPr>
              <a:t>Server-verified payments, QR tickets and PDF passes</a:t>
            </a:r>
            <a:endParaRPr lang="en-US" sz="1400" dirty="0"/>
          </a:p>
          <a:p>
            <a:pPr marL="177800" indent="-177800">
              <a:spcAft>
                <a:spcPts val="1200"/>
              </a:spcAft>
              <a:buSzPct val="100000"/>
              <a:buChar char="•"/>
            </a:pPr>
            <a:r>
              <a:rPr lang="en-US" sz="1400" dirty="0">
                <a:solidFill>
                  <a:schemeClr val="tx2"/>
                </a:solidFill>
              </a:rPr>
              <a:t>Event-scoped moderators; each ticket admitted once</a:t>
            </a:r>
            <a:endParaRPr lang="en-US" sz="1400" dirty="0"/>
          </a:p>
        </p:txBody>
      </p:sp>
      <p:sp>
        <p:nvSpPr>
          <p:cNvPr id="9" name="card"/>
          <p:cNvSpPr/>
          <p:nvPr/>
        </p:nvSpPr>
        <p:spPr>
          <a:xfrm>
            <a:off x="4297680" y="1463040"/>
            <a:ext cx="3520440" cy="4709160"/>
          </a:xfrm>
          <a:prstGeom prst="roundRect">
            <a:avLst>
              <a:gd name="adj" fmla="val 2597"/>
            </a:avLst>
          </a:prstGeom>
          <a:solidFill>
            <a:schemeClr val="bg2"/>
          </a:solidFill>
          <a:ln w="12700">
            <a:solidFill>
              <a:schemeClr val="bg2"/>
            </a:solidFill>
            <a:prstDash val="solid"/>
          </a:ln>
        </p:spPr>
      </p:sp>
      <p:sp>
        <p:nvSpPr>
          <p:cNvPr id="10" name="icon-circle"/>
          <p:cNvSpPr/>
          <p:nvPr/>
        </p:nvSpPr>
        <p:spPr>
          <a:xfrm>
            <a:off x="4572000" y="1719072"/>
            <a:ext cx="457200" cy="457200"/>
          </a:xfrm>
          <a:prstGeom prst="ellipse">
            <a:avLst/>
          </a:prstGeom>
          <a:solidFill>
            <a:schemeClr val="accent1"/>
          </a:solidFill>
          <a:ln w="12700">
            <a:solidFill>
              <a:schemeClr val="accent1"/>
            </a:solidFill>
            <a:prstDash val="solid"/>
          </a:ln>
        </p:spPr>
      </p:sp>
      <p:pic>
        <p:nvPicPr>
          <p:cNvPr id="11" name="Image 1" descr="LuLayoutGrid">    </p:cNvPr>
          <p:cNvPicPr>
            <a:picLocks noChangeAspect="1"/>
          </p:cNvPicPr>
          <p:nvPr/>
        </p:nvPicPr>
        <p:blipFill>
          <a:blip r:embed="rId2"/>
          <a:stretch>
            <a:fillRect/>
          </a:stretch>
        </p:blipFill>
        <p:spPr>
          <a:xfrm>
            <a:off x="4681728" y="1828800"/>
            <a:ext cx="237744" cy="237744"/>
          </a:xfrm>
          <a:prstGeom prst="rect">
            <a:avLst/>
          </a:prstGeom>
        </p:spPr>
      </p:pic>
      <p:sp>
        <p:nvSpPr>
          <p:cNvPr id="12" name="Text 8"/>
          <p:cNvSpPr txBox="1"/>
          <p:nvPr/>
        </p:nvSpPr>
        <p:spPr>
          <a:xfrm>
            <a:off x="5166360" y="1783080"/>
            <a:ext cx="2514600" cy="365760"/>
          </a:xfrm>
          <a:prstGeom prst="rect">
            <a:avLst/>
          </a:prstGeom>
          <a:noFill/>
          <a:ln/>
        </p:spPr>
        <p:txBody>
          <a:bodyPr wrap="square" lIns="0" tIns="0" rIns="0" bIns="0" rtlCol="0" anchor="ctr"/>
          <a:lstStyle/>
          <a:p>
            <a:pPr indent="0" marL="0">
              <a:buNone/>
            </a:pPr>
            <a:r>
              <a:rPr lang="en-US" sz="1600" b="1" dirty="0">
                <a:solidFill>
                  <a:schemeClr val="tx1"/>
                </a:solidFill>
              </a:rPr>
              <a:t>Core functional scope</a:t>
            </a:r>
            <a:endParaRPr lang="en-US" sz="1600" dirty="0"/>
          </a:p>
        </p:txBody>
      </p:sp>
      <p:sp>
        <p:nvSpPr>
          <p:cNvPr id="13" name="Text 9"/>
          <p:cNvSpPr txBox="1"/>
          <p:nvPr/>
        </p:nvSpPr>
        <p:spPr>
          <a:xfrm>
            <a:off x="4572000" y="2423160"/>
            <a:ext cx="3017520" cy="361188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chemeClr val="tx2"/>
                </a:solidFill>
              </a:rPr>
              <a:t>Participant, organizer, moderator and administrator workflows</a:t>
            </a:r>
            <a:endParaRPr lang="en-US" sz="1400" dirty="0"/>
          </a:p>
          <a:p>
            <a:pPr marL="177800" indent="-177800">
              <a:spcAft>
                <a:spcPts val="1200"/>
              </a:spcAft>
              <a:buSzPct val="100000"/>
              <a:buChar char="•"/>
            </a:pPr>
            <a:r>
              <a:rPr lang="en-US" sz="1400" dirty="0">
                <a:solidFill>
                  <a:schemeClr val="tx2"/>
                </a:solidFill>
              </a:rPr>
              <a:t>Discovery, full-text search and poster-led home page</a:t>
            </a:r>
            <a:endParaRPr lang="en-US" sz="1400" dirty="0"/>
          </a:p>
          <a:p>
            <a:pPr marL="177800" indent="-177800">
              <a:spcAft>
                <a:spcPts val="1200"/>
              </a:spcAft>
              <a:buSzPct val="100000"/>
              <a:buChar char="•"/>
            </a:pPr>
            <a:r>
              <a:rPr lang="en-US" sz="1400" dirty="0">
                <a:solidFill>
                  <a:schemeClr val="tx2"/>
                </a:solidFill>
              </a:rPr>
              <a:t>Cancellations with refunds; organizer payouts</a:t>
            </a:r>
            <a:endParaRPr lang="en-US" sz="1400" dirty="0"/>
          </a:p>
          <a:p>
            <a:pPr marL="177800" indent="-177800">
              <a:spcAft>
                <a:spcPts val="1200"/>
              </a:spcAft>
              <a:buSzPct val="100000"/>
              <a:buChar char="•"/>
            </a:pPr>
            <a:r>
              <a:rPr lang="en-US" sz="1400" dirty="0">
                <a:solidFill>
                  <a:schemeClr val="tx2"/>
                </a:solidFill>
              </a:rPr>
              <a:t>In-app realtime notifications and audit log</a:t>
            </a:r>
            <a:endParaRPr lang="en-US" sz="1400" dirty="0"/>
          </a:p>
          <a:p>
            <a:pPr marL="177800" indent="-177800">
              <a:spcAft>
                <a:spcPts val="1200"/>
              </a:spcAft>
              <a:buSzPct val="100000"/>
              <a:buChar char="•"/>
            </a:pPr>
            <a:r>
              <a:rPr lang="en-US" sz="1400" dirty="0">
                <a:solidFill>
                  <a:schemeClr val="tx2"/>
                </a:solidFill>
              </a:rPr>
              <a:t>CSV reports for organizers and administrators</a:t>
            </a:r>
            <a:endParaRPr lang="en-US" sz="1400" dirty="0"/>
          </a:p>
        </p:txBody>
      </p:sp>
      <p:sp>
        <p:nvSpPr>
          <p:cNvPr id="14" name="card"/>
          <p:cNvSpPr/>
          <p:nvPr/>
        </p:nvSpPr>
        <p:spPr>
          <a:xfrm>
            <a:off x="8046720" y="1463040"/>
            <a:ext cx="3520440" cy="4709160"/>
          </a:xfrm>
          <a:prstGeom prst="roundRect">
            <a:avLst>
              <a:gd name="adj" fmla="val 2597"/>
            </a:avLst>
          </a:prstGeom>
          <a:solidFill>
            <a:schemeClr val="bg1"/>
          </a:solidFill>
          <a:ln w="12700">
            <a:solidFill>
              <a:schemeClr val="accent6"/>
            </a:solidFill>
            <a:prstDash val="solid"/>
          </a:ln>
        </p:spPr>
      </p:sp>
      <p:sp>
        <p:nvSpPr>
          <p:cNvPr id="15" name="icon-circle"/>
          <p:cNvSpPr/>
          <p:nvPr/>
        </p:nvSpPr>
        <p:spPr>
          <a:xfrm>
            <a:off x="8321040" y="1719072"/>
            <a:ext cx="457200" cy="457200"/>
          </a:xfrm>
          <a:prstGeom prst="ellipse">
            <a:avLst/>
          </a:prstGeom>
          <a:solidFill>
            <a:schemeClr val="accent3"/>
          </a:solidFill>
          <a:ln w="12700">
            <a:solidFill>
              <a:schemeClr val="accent3"/>
            </a:solidFill>
            <a:prstDash val="solid"/>
          </a:ln>
        </p:spPr>
      </p:sp>
      <p:pic>
        <p:nvPicPr>
          <p:cNvPr id="16" name="Image 2" descr="LuShieldAlert">    </p:cNvPr>
          <p:cNvPicPr>
            <a:picLocks noChangeAspect="1"/>
          </p:cNvPicPr>
          <p:nvPr/>
        </p:nvPicPr>
        <p:blipFill>
          <a:blip r:embed="rId3"/>
          <a:stretch>
            <a:fillRect/>
          </a:stretch>
        </p:blipFill>
        <p:spPr>
          <a:xfrm>
            <a:off x="8430768" y="1828800"/>
            <a:ext cx="237744" cy="237744"/>
          </a:xfrm>
          <a:prstGeom prst="rect">
            <a:avLst/>
          </a:prstGeom>
        </p:spPr>
      </p:pic>
      <p:sp>
        <p:nvSpPr>
          <p:cNvPr id="17" name="Text 12"/>
          <p:cNvSpPr txBox="1"/>
          <p:nvPr/>
        </p:nvSpPr>
        <p:spPr>
          <a:xfrm>
            <a:off x="8915400" y="1783080"/>
            <a:ext cx="2514600" cy="365760"/>
          </a:xfrm>
          <a:prstGeom prst="rect">
            <a:avLst/>
          </a:prstGeom>
          <a:noFill/>
          <a:ln/>
        </p:spPr>
        <p:txBody>
          <a:bodyPr wrap="square" lIns="0" tIns="0" rIns="0" bIns="0" rtlCol="0" anchor="ctr"/>
          <a:lstStyle/>
          <a:p>
            <a:pPr indent="0" marL="0">
              <a:buNone/>
            </a:pPr>
            <a:r>
              <a:rPr lang="en-US" sz="1600" b="1" dirty="0">
                <a:solidFill>
                  <a:schemeClr val="tx1"/>
                </a:solidFill>
              </a:rPr>
              <a:t>Boundaries</a:t>
            </a:r>
            <a:endParaRPr lang="en-US" sz="1600" dirty="0"/>
          </a:p>
        </p:txBody>
      </p:sp>
      <p:sp>
        <p:nvSpPr>
          <p:cNvPr id="18" name="Text 13"/>
          <p:cNvSpPr txBox="1"/>
          <p:nvPr/>
        </p:nvSpPr>
        <p:spPr>
          <a:xfrm>
            <a:off x="8321040" y="2423160"/>
            <a:ext cx="3017520" cy="361188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chemeClr val="tx2"/>
                </a:solidFill>
              </a:rPr>
              <a:t>Razorpay Test Mode only; live keys are refused</a:t>
            </a:r>
            <a:endParaRPr lang="en-US" sz="1400" dirty="0"/>
          </a:p>
          <a:p>
            <a:pPr marL="177800" indent="-177800">
              <a:spcAft>
                <a:spcPts val="1200"/>
              </a:spcAft>
              <a:buSzPct val="100000"/>
              <a:buChar char="•"/>
            </a:pPr>
            <a:r>
              <a:rPr lang="en-US" sz="1400" dirty="0">
                <a:solidFill>
                  <a:schemeClr val="tx2"/>
                </a:solidFill>
              </a:rPr>
              <a:t>Payouts are recorded; the bank transfer happens outside the system</a:t>
            </a:r>
            <a:endParaRPr lang="en-US" sz="1400" dirty="0"/>
          </a:p>
          <a:p>
            <a:pPr marL="177800" indent="-177800">
              <a:spcAft>
                <a:spcPts val="1200"/>
              </a:spcAft>
              <a:buSzPct val="100000"/>
              <a:buChar char="•"/>
            </a:pPr>
            <a:r>
              <a:rPr lang="en-US" sz="1400" dirty="0">
                <a:solidFill>
                  <a:schemeClr val="tx2"/>
                </a:solidFill>
              </a:rPr>
              <a:t>Not included: waiting lists, invite-only lists, numbered seat maps, native mobile apps</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EXISTING SYSTEM VS PROPOSED SYSTEM</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From manual checks to rules the database enforces</a:t>
            </a:r>
            <a:endParaRPr lang="en-US" sz="3000" dirty="0"/>
          </a:p>
        </p:txBody>
      </p:sp>
      <p:sp>
        <p:nvSpPr>
          <p:cNvPr id="4" name="card"/>
          <p:cNvSpPr/>
          <p:nvPr/>
        </p:nvSpPr>
        <p:spPr>
          <a:xfrm>
            <a:off x="6839712" y="1371600"/>
            <a:ext cx="4800600" cy="4626864"/>
          </a:xfrm>
          <a:prstGeom prst="roundRect">
            <a:avLst>
              <a:gd name="adj" fmla="val 1976"/>
            </a:avLst>
          </a:prstGeom>
          <a:solidFill>
            <a:schemeClr val="bg2"/>
          </a:solidFill>
          <a:ln w="9525">
            <a:solidFill>
              <a:schemeClr val="bg2"/>
            </a:solidFill>
            <a:prstDash val="solid"/>
          </a:ln>
        </p:spPr>
      </p:sp>
      <p:sp>
        <p:nvSpPr>
          <p:cNvPr id="5" name="Text 3"/>
          <p:cNvSpPr txBox="1"/>
          <p:nvPr/>
        </p:nvSpPr>
        <p:spPr>
          <a:xfrm>
            <a:off x="548640" y="1417320"/>
            <a:ext cx="2057400" cy="566928"/>
          </a:xfrm>
          <a:prstGeom prst="rect">
            <a:avLst/>
          </a:prstGeom>
          <a:noFill/>
          <a:ln/>
        </p:spPr>
        <p:txBody>
          <a:bodyPr wrap="square" lIns="0" tIns="0" rIns="0" bIns="0" rtlCol="0" anchor="ctr"/>
          <a:lstStyle/>
          <a:p>
            <a:pPr indent="0" marL="0">
              <a:buNone/>
            </a:pPr>
            <a:r>
              <a:rPr lang="en-US" sz="1100" b="1" spc="200" kern="0" dirty="0">
                <a:solidFill>
                  <a:schemeClr val="accent3"/>
                </a:solidFill>
              </a:rPr>
              <a:t>ASPECT</a:t>
            </a:r>
            <a:endParaRPr lang="en-US" sz="1100" dirty="0"/>
          </a:p>
        </p:txBody>
      </p:sp>
      <p:sp>
        <p:nvSpPr>
          <p:cNvPr id="6" name="Text 4"/>
          <p:cNvSpPr txBox="1"/>
          <p:nvPr/>
        </p:nvSpPr>
        <p:spPr>
          <a:xfrm>
            <a:off x="2606040" y="1417320"/>
            <a:ext cx="4206240" cy="566928"/>
          </a:xfrm>
          <a:prstGeom prst="rect">
            <a:avLst/>
          </a:prstGeom>
          <a:noFill/>
          <a:ln/>
        </p:spPr>
        <p:txBody>
          <a:bodyPr wrap="square" lIns="0" tIns="0" rIns="0" bIns="0" rtlCol="0" anchor="ctr"/>
          <a:lstStyle/>
          <a:p>
            <a:pPr indent="0" marL="0">
              <a:buNone/>
            </a:pPr>
            <a:r>
              <a:rPr lang="en-US" sz="1100" b="1" spc="100" kern="0" dirty="0">
                <a:solidFill>
                  <a:schemeClr val="accent3"/>
                </a:solidFill>
              </a:rPr>
              <a:t>EXISTING  ·  forms, sheets, screenshots</a:t>
            </a:r>
            <a:endParaRPr lang="en-US" sz="1100" dirty="0"/>
          </a:p>
        </p:txBody>
      </p:sp>
      <p:sp>
        <p:nvSpPr>
          <p:cNvPr id="7" name="Text 5"/>
          <p:cNvSpPr txBox="1"/>
          <p:nvPr/>
        </p:nvSpPr>
        <p:spPr>
          <a:xfrm>
            <a:off x="7086600" y="1417320"/>
            <a:ext cx="4434840" cy="566928"/>
          </a:xfrm>
          <a:prstGeom prst="rect">
            <a:avLst/>
          </a:prstGeom>
          <a:noFill/>
          <a:ln/>
        </p:spPr>
        <p:txBody>
          <a:bodyPr wrap="square" lIns="0" tIns="0" rIns="0" bIns="0" rtlCol="0" anchor="ctr"/>
          <a:lstStyle/>
          <a:p>
            <a:pPr indent="0" marL="0">
              <a:buNone/>
            </a:pPr>
            <a:r>
              <a:rPr lang="en-US" sz="1100" b="1" spc="100" kern="0" dirty="0">
                <a:solidFill>
                  <a:schemeClr val="accent1"/>
                </a:solidFill>
              </a:rPr>
              <a:t>PROPOSED  ·  EventDeck</a:t>
            </a:r>
            <a:endParaRPr lang="en-US" sz="1100" dirty="0"/>
          </a:p>
        </p:txBody>
      </p:sp>
      <p:sp>
        <p:nvSpPr>
          <p:cNvPr id="8" name="row-rule"/>
          <p:cNvSpPr/>
          <p:nvPr/>
        </p:nvSpPr>
        <p:spPr>
          <a:xfrm>
            <a:off x="548640" y="1984248"/>
            <a:ext cx="6263640" cy="0"/>
          </a:xfrm>
          <a:prstGeom prst="line">
            <a:avLst/>
          </a:prstGeom>
          <a:noFill/>
          <a:ln w="9525">
            <a:solidFill>
              <a:schemeClr val="accent6"/>
            </a:solidFill>
            <a:prstDash val="solid"/>
          </a:ln>
        </p:spPr>
      </p:sp>
      <p:sp>
        <p:nvSpPr>
          <p:cNvPr id="9" name="Text 7"/>
          <p:cNvSpPr txBox="1"/>
          <p:nvPr/>
        </p:nvSpPr>
        <p:spPr>
          <a:xfrm>
            <a:off x="548640" y="1984248"/>
            <a:ext cx="2057400" cy="566928"/>
          </a:xfrm>
          <a:prstGeom prst="rect">
            <a:avLst/>
          </a:prstGeom>
          <a:noFill/>
          <a:ln/>
        </p:spPr>
        <p:txBody>
          <a:bodyPr wrap="square" lIns="0" tIns="0" rIns="0" bIns="0" rtlCol="0" anchor="ctr"/>
          <a:lstStyle/>
          <a:p>
            <a:pPr indent="0" marL="0">
              <a:buNone/>
            </a:pPr>
            <a:r>
              <a:rPr lang="en-US" sz="1400" b="1" dirty="0">
                <a:solidFill>
                  <a:schemeClr val="tx1"/>
                </a:solidFill>
              </a:rPr>
              <a:t>Seat limits</a:t>
            </a:r>
            <a:endParaRPr lang="en-US" sz="1400" dirty="0"/>
          </a:p>
        </p:txBody>
      </p:sp>
      <p:sp>
        <p:nvSpPr>
          <p:cNvPr id="10" name="Text 8"/>
          <p:cNvSpPr txBox="1"/>
          <p:nvPr/>
        </p:nvSpPr>
        <p:spPr>
          <a:xfrm>
            <a:off x="2606040" y="1984248"/>
            <a:ext cx="4023360" cy="566928"/>
          </a:xfrm>
          <a:prstGeom prst="rect">
            <a:avLst/>
          </a:prstGeom>
          <a:noFill/>
          <a:ln/>
        </p:spPr>
        <p:txBody>
          <a:bodyPr wrap="square" lIns="0" tIns="0" rIns="0" bIns="0" rtlCol="0" anchor="ctr"/>
          <a:lstStyle/>
          <a:p>
            <a:pPr indent="0" marL="0">
              <a:buNone/>
            </a:pPr>
            <a:r>
              <a:rPr lang="en-US" sz="1300" dirty="0">
                <a:solidFill>
                  <a:schemeClr val="accent3"/>
                </a:solidFill>
              </a:rPr>
              <a:t>Not checked; reconciled by hand afterwards</a:t>
            </a:r>
            <a:endParaRPr lang="en-US" sz="1300" dirty="0"/>
          </a:p>
        </p:txBody>
      </p:sp>
      <p:sp>
        <p:nvSpPr>
          <p:cNvPr id="11" name="Text 9"/>
          <p:cNvSpPr txBox="1"/>
          <p:nvPr/>
        </p:nvSpPr>
        <p:spPr>
          <a:xfrm>
            <a:off x="7086600" y="1984248"/>
            <a:ext cx="4343400" cy="566928"/>
          </a:xfrm>
          <a:prstGeom prst="rect">
            <a:avLst/>
          </a:prstGeom>
          <a:noFill/>
          <a:ln/>
        </p:spPr>
        <p:txBody>
          <a:bodyPr wrap="square" lIns="0" tIns="0" rIns="0" bIns="0" rtlCol="0" anchor="ctr"/>
          <a:lstStyle/>
          <a:p>
            <a:pPr indent="0" marL="0">
              <a:buNone/>
            </a:pPr>
            <a:r>
              <a:rPr lang="en-US" sz="1300" dirty="0">
                <a:solidFill>
                  <a:schemeClr val="tx1"/>
                </a:solidFill>
              </a:rPr>
              <a:t>Atomic conditional update inside a transaction</a:t>
            </a:r>
            <a:endParaRPr lang="en-US" sz="1300" dirty="0"/>
          </a:p>
        </p:txBody>
      </p:sp>
      <p:sp>
        <p:nvSpPr>
          <p:cNvPr id="12" name="row-rule"/>
          <p:cNvSpPr/>
          <p:nvPr/>
        </p:nvSpPr>
        <p:spPr>
          <a:xfrm>
            <a:off x="548640" y="2551176"/>
            <a:ext cx="6263640" cy="0"/>
          </a:xfrm>
          <a:prstGeom prst="line">
            <a:avLst/>
          </a:prstGeom>
          <a:noFill/>
          <a:ln w="9525">
            <a:solidFill>
              <a:schemeClr val="accent6"/>
            </a:solidFill>
            <a:prstDash val="solid"/>
          </a:ln>
        </p:spPr>
      </p:sp>
      <p:sp>
        <p:nvSpPr>
          <p:cNvPr id="13" name="Text 11"/>
          <p:cNvSpPr txBox="1"/>
          <p:nvPr/>
        </p:nvSpPr>
        <p:spPr>
          <a:xfrm>
            <a:off x="548640" y="2551176"/>
            <a:ext cx="2057400" cy="566928"/>
          </a:xfrm>
          <a:prstGeom prst="rect">
            <a:avLst/>
          </a:prstGeom>
          <a:noFill/>
          <a:ln/>
        </p:spPr>
        <p:txBody>
          <a:bodyPr wrap="square" lIns="0" tIns="0" rIns="0" bIns="0" rtlCol="0" anchor="ctr"/>
          <a:lstStyle/>
          <a:p>
            <a:pPr indent="0" marL="0">
              <a:buNone/>
            </a:pPr>
            <a:r>
              <a:rPr lang="en-US" sz="1400" b="1" dirty="0">
                <a:solidFill>
                  <a:schemeClr val="tx1"/>
                </a:solidFill>
              </a:rPr>
              <a:t>Payments</a:t>
            </a:r>
            <a:endParaRPr lang="en-US" sz="1400" dirty="0"/>
          </a:p>
        </p:txBody>
      </p:sp>
      <p:sp>
        <p:nvSpPr>
          <p:cNvPr id="14" name="Text 12"/>
          <p:cNvSpPr txBox="1"/>
          <p:nvPr/>
        </p:nvSpPr>
        <p:spPr>
          <a:xfrm>
            <a:off x="2606040" y="2551176"/>
            <a:ext cx="4023360" cy="566928"/>
          </a:xfrm>
          <a:prstGeom prst="rect">
            <a:avLst/>
          </a:prstGeom>
          <a:noFill/>
          <a:ln/>
        </p:spPr>
        <p:txBody>
          <a:bodyPr wrap="square" lIns="0" tIns="0" rIns="0" bIns="0" rtlCol="0" anchor="ctr"/>
          <a:lstStyle/>
          <a:p>
            <a:pPr indent="0" marL="0">
              <a:buNone/>
            </a:pPr>
            <a:r>
              <a:rPr lang="en-US" sz="1300" dirty="0">
                <a:solidFill>
                  <a:schemeClr val="accent3"/>
                </a:solidFill>
              </a:rPr>
              <a:t>Screenshots checked by hand</a:t>
            </a:r>
            <a:endParaRPr lang="en-US" sz="1300" dirty="0"/>
          </a:p>
        </p:txBody>
      </p:sp>
      <p:sp>
        <p:nvSpPr>
          <p:cNvPr id="15" name="Text 13"/>
          <p:cNvSpPr txBox="1"/>
          <p:nvPr/>
        </p:nvSpPr>
        <p:spPr>
          <a:xfrm>
            <a:off x="7086600" y="2551176"/>
            <a:ext cx="4343400" cy="566928"/>
          </a:xfrm>
          <a:prstGeom prst="rect">
            <a:avLst/>
          </a:prstGeom>
          <a:noFill/>
          <a:ln/>
        </p:spPr>
        <p:txBody>
          <a:bodyPr wrap="square" lIns="0" tIns="0" rIns="0" bIns="0" rtlCol="0" anchor="ctr"/>
          <a:lstStyle/>
          <a:p>
            <a:pPr indent="0" marL="0">
              <a:buNone/>
            </a:pPr>
            <a:r>
              <a:rPr lang="en-US" sz="1300" dirty="0">
                <a:solidFill>
                  <a:schemeClr val="tx1"/>
                </a:solidFill>
              </a:rPr>
              <a:t>Razorpay signature verified on the server; webhooks deduplicated</a:t>
            </a:r>
            <a:endParaRPr lang="en-US" sz="1300" dirty="0"/>
          </a:p>
        </p:txBody>
      </p:sp>
      <p:sp>
        <p:nvSpPr>
          <p:cNvPr id="16" name="row-rule"/>
          <p:cNvSpPr/>
          <p:nvPr/>
        </p:nvSpPr>
        <p:spPr>
          <a:xfrm>
            <a:off x="548640" y="3118104"/>
            <a:ext cx="6263640" cy="0"/>
          </a:xfrm>
          <a:prstGeom prst="line">
            <a:avLst/>
          </a:prstGeom>
          <a:noFill/>
          <a:ln w="9525">
            <a:solidFill>
              <a:schemeClr val="accent6"/>
            </a:solidFill>
            <a:prstDash val="solid"/>
          </a:ln>
        </p:spPr>
      </p:sp>
      <p:sp>
        <p:nvSpPr>
          <p:cNvPr id="17" name="Text 15"/>
          <p:cNvSpPr txBox="1"/>
          <p:nvPr/>
        </p:nvSpPr>
        <p:spPr>
          <a:xfrm>
            <a:off x="548640" y="3118104"/>
            <a:ext cx="2057400" cy="566928"/>
          </a:xfrm>
          <a:prstGeom prst="rect">
            <a:avLst/>
          </a:prstGeom>
          <a:noFill/>
          <a:ln/>
        </p:spPr>
        <p:txBody>
          <a:bodyPr wrap="square" lIns="0" tIns="0" rIns="0" bIns="0" rtlCol="0" anchor="ctr"/>
          <a:lstStyle/>
          <a:p>
            <a:pPr indent="0" marL="0">
              <a:buNone/>
            </a:pPr>
            <a:r>
              <a:rPr lang="en-US" sz="1400" b="1" dirty="0">
                <a:solidFill>
                  <a:schemeClr val="tx1"/>
                </a:solidFill>
              </a:rPr>
              <a:t>Eligibility</a:t>
            </a:r>
            <a:endParaRPr lang="en-US" sz="1400" dirty="0"/>
          </a:p>
        </p:txBody>
      </p:sp>
      <p:sp>
        <p:nvSpPr>
          <p:cNvPr id="18" name="Text 16"/>
          <p:cNvSpPr txBox="1"/>
          <p:nvPr/>
        </p:nvSpPr>
        <p:spPr>
          <a:xfrm>
            <a:off x="2606040" y="3118104"/>
            <a:ext cx="4023360" cy="566928"/>
          </a:xfrm>
          <a:prstGeom prst="rect">
            <a:avLst/>
          </a:prstGeom>
          <a:noFill/>
          <a:ln/>
        </p:spPr>
        <p:txBody>
          <a:bodyPr wrap="square" lIns="0" tIns="0" rIns="0" bIns="0" rtlCol="0" anchor="ctr"/>
          <a:lstStyle/>
          <a:p>
            <a:pPr indent="0" marL="0">
              <a:buNone/>
            </a:pPr>
            <a:r>
              <a:rPr lang="en-US" sz="1300" dirty="0">
                <a:solidFill>
                  <a:schemeClr val="accent3"/>
                </a:solidFill>
              </a:rPr>
              <a:t>Self-declared in a form</a:t>
            </a:r>
            <a:endParaRPr lang="en-US" sz="1300" dirty="0"/>
          </a:p>
        </p:txBody>
      </p:sp>
      <p:sp>
        <p:nvSpPr>
          <p:cNvPr id="19" name="Text 17"/>
          <p:cNvSpPr txBox="1"/>
          <p:nvPr/>
        </p:nvSpPr>
        <p:spPr>
          <a:xfrm>
            <a:off x="7086600" y="3118104"/>
            <a:ext cx="4343400" cy="566928"/>
          </a:xfrm>
          <a:prstGeom prst="rect">
            <a:avLst/>
          </a:prstGeom>
          <a:noFill/>
          <a:ln/>
        </p:spPr>
        <p:txBody>
          <a:bodyPr wrap="square" lIns="0" tIns="0" rIns="0" bIns="0" rtlCol="0" anchor="ctr"/>
          <a:lstStyle/>
          <a:p>
            <a:pPr indent="0" marL="0">
              <a:buNone/>
            </a:pPr>
            <a:r>
              <a:rPr lang="en-US" sz="1300" dirty="0">
                <a:solidFill>
                  <a:schemeClr val="tx1"/>
                </a:solidFill>
              </a:rPr>
              <a:t>Checked on the server from the stored profile</a:t>
            </a:r>
            <a:endParaRPr lang="en-US" sz="1300" dirty="0"/>
          </a:p>
        </p:txBody>
      </p:sp>
      <p:sp>
        <p:nvSpPr>
          <p:cNvPr id="20" name="row-rule"/>
          <p:cNvSpPr/>
          <p:nvPr/>
        </p:nvSpPr>
        <p:spPr>
          <a:xfrm>
            <a:off x="548640" y="3685032"/>
            <a:ext cx="6263640" cy="0"/>
          </a:xfrm>
          <a:prstGeom prst="line">
            <a:avLst/>
          </a:prstGeom>
          <a:noFill/>
          <a:ln w="9525">
            <a:solidFill>
              <a:schemeClr val="accent6"/>
            </a:solidFill>
            <a:prstDash val="solid"/>
          </a:ln>
        </p:spPr>
      </p:sp>
      <p:sp>
        <p:nvSpPr>
          <p:cNvPr id="21" name="Text 19"/>
          <p:cNvSpPr txBox="1"/>
          <p:nvPr/>
        </p:nvSpPr>
        <p:spPr>
          <a:xfrm>
            <a:off x="548640" y="3685032"/>
            <a:ext cx="2057400" cy="566928"/>
          </a:xfrm>
          <a:prstGeom prst="rect">
            <a:avLst/>
          </a:prstGeom>
          <a:noFill/>
          <a:ln/>
        </p:spPr>
        <p:txBody>
          <a:bodyPr wrap="square" lIns="0" tIns="0" rIns="0" bIns="0" rtlCol="0" anchor="ctr"/>
          <a:lstStyle/>
          <a:p>
            <a:pPr indent="0" marL="0">
              <a:buNone/>
            </a:pPr>
            <a:r>
              <a:rPr lang="en-US" sz="1400" b="1" dirty="0">
                <a:solidFill>
                  <a:schemeClr val="tx1"/>
                </a:solidFill>
              </a:rPr>
              <a:t>Entry</a:t>
            </a:r>
            <a:endParaRPr lang="en-US" sz="1400" dirty="0"/>
          </a:p>
        </p:txBody>
      </p:sp>
      <p:sp>
        <p:nvSpPr>
          <p:cNvPr id="22" name="Text 20"/>
          <p:cNvSpPr txBox="1"/>
          <p:nvPr/>
        </p:nvSpPr>
        <p:spPr>
          <a:xfrm>
            <a:off x="2606040" y="3685032"/>
            <a:ext cx="4023360" cy="566928"/>
          </a:xfrm>
          <a:prstGeom prst="rect">
            <a:avLst/>
          </a:prstGeom>
          <a:noFill/>
          <a:ln/>
        </p:spPr>
        <p:txBody>
          <a:bodyPr wrap="square" lIns="0" tIns="0" rIns="0" bIns="0" rtlCol="0" anchor="ctr"/>
          <a:lstStyle/>
          <a:p>
            <a:pPr indent="0" marL="0">
              <a:buNone/>
            </a:pPr>
            <a:r>
              <a:rPr lang="en-US" sz="1300" dirty="0">
                <a:solidFill>
                  <a:schemeClr val="accent3"/>
                </a:solidFill>
              </a:rPr>
              <a:t>Printed lists, copyable passes</a:t>
            </a:r>
            <a:endParaRPr lang="en-US" sz="1300" dirty="0"/>
          </a:p>
        </p:txBody>
      </p:sp>
      <p:sp>
        <p:nvSpPr>
          <p:cNvPr id="23" name="Text 21"/>
          <p:cNvSpPr txBox="1"/>
          <p:nvPr/>
        </p:nvSpPr>
        <p:spPr>
          <a:xfrm>
            <a:off x="7086600" y="3685032"/>
            <a:ext cx="4343400" cy="566928"/>
          </a:xfrm>
          <a:prstGeom prst="rect">
            <a:avLst/>
          </a:prstGeom>
          <a:noFill/>
          <a:ln/>
        </p:spPr>
        <p:txBody>
          <a:bodyPr wrap="square" lIns="0" tIns="0" rIns="0" bIns="0" rtlCol="0" anchor="ctr"/>
          <a:lstStyle/>
          <a:p>
            <a:pPr indent="0" marL="0">
              <a:buNone/>
            </a:pPr>
            <a:r>
              <a:rPr lang="en-US" sz="1300" dirty="0">
                <a:solidFill>
                  <a:schemeClr val="tx1"/>
                </a:solidFill>
              </a:rPr>
              <a:t>Random 192-bit QR token; the first scan wins</a:t>
            </a:r>
            <a:endParaRPr lang="en-US" sz="1300" dirty="0"/>
          </a:p>
        </p:txBody>
      </p:sp>
      <p:sp>
        <p:nvSpPr>
          <p:cNvPr id="24" name="row-rule"/>
          <p:cNvSpPr/>
          <p:nvPr/>
        </p:nvSpPr>
        <p:spPr>
          <a:xfrm>
            <a:off x="548640" y="4251960"/>
            <a:ext cx="6263640" cy="0"/>
          </a:xfrm>
          <a:prstGeom prst="line">
            <a:avLst/>
          </a:prstGeom>
          <a:noFill/>
          <a:ln w="9525">
            <a:solidFill>
              <a:schemeClr val="accent6"/>
            </a:solidFill>
            <a:prstDash val="solid"/>
          </a:ln>
        </p:spPr>
      </p:sp>
      <p:sp>
        <p:nvSpPr>
          <p:cNvPr id="25" name="Text 23"/>
          <p:cNvSpPr txBox="1"/>
          <p:nvPr/>
        </p:nvSpPr>
        <p:spPr>
          <a:xfrm>
            <a:off x="548640" y="4251960"/>
            <a:ext cx="2057400" cy="566928"/>
          </a:xfrm>
          <a:prstGeom prst="rect">
            <a:avLst/>
          </a:prstGeom>
          <a:noFill/>
          <a:ln/>
        </p:spPr>
        <p:txBody>
          <a:bodyPr wrap="square" lIns="0" tIns="0" rIns="0" bIns="0" rtlCol="0" anchor="ctr"/>
          <a:lstStyle/>
          <a:p>
            <a:pPr indent="0" marL="0">
              <a:buNone/>
            </a:pPr>
            <a:r>
              <a:rPr lang="en-US" sz="1400" b="1" dirty="0">
                <a:solidFill>
                  <a:schemeClr val="tx1"/>
                </a:solidFill>
              </a:rPr>
              <a:t>Door staff</a:t>
            </a:r>
            <a:endParaRPr lang="en-US" sz="1400" dirty="0"/>
          </a:p>
        </p:txBody>
      </p:sp>
      <p:sp>
        <p:nvSpPr>
          <p:cNvPr id="26" name="Text 24"/>
          <p:cNvSpPr txBox="1"/>
          <p:nvPr/>
        </p:nvSpPr>
        <p:spPr>
          <a:xfrm>
            <a:off x="2606040" y="4251960"/>
            <a:ext cx="4023360" cy="566928"/>
          </a:xfrm>
          <a:prstGeom prst="rect">
            <a:avLst/>
          </a:prstGeom>
          <a:noFill/>
          <a:ln/>
        </p:spPr>
        <p:txBody>
          <a:bodyPr wrap="square" lIns="0" tIns="0" rIns="0" bIns="0" rtlCol="0" anchor="ctr"/>
          <a:lstStyle/>
          <a:p>
            <a:pPr indent="0" marL="0">
              <a:buNone/>
            </a:pPr>
            <a:r>
              <a:rPr lang="en-US" sz="1300" dirty="0">
                <a:solidFill>
                  <a:schemeClr val="accent3"/>
                </a:solidFill>
              </a:rPr>
              <a:t>Access to the whole response sheet</a:t>
            </a:r>
            <a:endParaRPr lang="en-US" sz="1300" dirty="0"/>
          </a:p>
        </p:txBody>
      </p:sp>
      <p:sp>
        <p:nvSpPr>
          <p:cNvPr id="27" name="Text 25"/>
          <p:cNvSpPr txBox="1"/>
          <p:nvPr/>
        </p:nvSpPr>
        <p:spPr>
          <a:xfrm>
            <a:off x="7086600" y="4251960"/>
            <a:ext cx="4343400" cy="566928"/>
          </a:xfrm>
          <a:prstGeom prst="rect">
            <a:avLst/>
          </a:prstGeom>
          <a:noFill/>
          <a:ln/>
        </p:spPr>
        <p:txBody>
          <a:bodyPr wrap="square" lIns="0" tIns="0" rIns="0" bIns="0" rtlCol="0" anchor="ctr"/>
          <a:lstStyle/>
          <a:p>
            <a:pPr indent="0" marL="0">
              <a:buNone/>
            </a:pPr>
            <a:r>
              <a:rPr lang="en-US" sz="1300" dirty="0">
                <a:solidFill>
                  <a:schemeClr val="tx1"/>
                </a:solidFill>
              </a:rPr>
              <a:t>Event-scoped moderators see only the scan result</a:t>
            </a:r>
            <a:endParaRPr lang="en-US" sz="1300" dirty="0"/>
          </a:p>
        </p:txBody>
      </p:sp>
      <p:sp>
        <p:nvSpPr>
          <p:cNvPr id="28" name="row-rule"/>
          <p:cNvSpPr/>
          <p:nvPr/>
        </p:nvSpPr>
        <p:spPr>
          <a:xfrm>
            <a:off x="548640" y="4818888"/>
            <a:ext cx="6263640" cy="0"/>
          </a:xfrm>
          <a:prstGeom prst="line">
            <a:avLst/>
          </a:prstGeom>
          <a:noFill/>
          <a:ln w="9525">
            <a:solidFill>
              <a:schemeClr val="accent6"/>
            </a:solidFill>
            <a:prstDash val="solid"/>
          </a:ln>
        </p:spPr>
      </p:sp>
      <p:sp>
        <p:nvSpPr>
          <p:cNvPr id="29" name="Text 27"/>
          <p:cNvSpPr txBox="1"/>
          <p:nvPr/>
        </p:nvSpPr>
        <p:spPr>
          <a:xfrm>
            <a:off x="548640" y="4818888"/>
            <a:ext cx="2057400" cy="566928"/>
          </a:xfrm>
          <a:prstGeom prst="rect">
            <a:avLst/>
          </a:prstGeom>
          <a:noFill/>
          <a:ln/>
        </p:spPr>
        <p:txBody>
          <a:bodyPr wrap="square" lIns="0" tIns="0" rIns="0" bIns="0" rtlCol="0" anchor="ctr"/>
          <a:lstStyle/>
          <a:p>
            <a:pPr indent="0" marL="0">
              <a:buNone/>
            </a:pPr>
            <a:r>
              <a:rPr lang="en-US" sz="1400" b="1" dirty="0">
                <a:solidFill>
                  <a:schemeClr val="tx1"/>
                </a:solidFill>
              </a:rPr>
              <a:t>Cancellations</a:t>
            </a:r>
            <a:endParaRPr lang="en-US" sz="1400" dirty="0"/>
          </a:p>
        </p:txBody>
      </p:sp>
      <p:sp>
        <p:nvSpPr>
          <p:cNvPr id="30" name="Text 28"/>
          <p:cNvSpPr txBox="1"/>
          <p:nvPr/>
        </p:nvSpPr>
        <p:spPr>
          <a:xfrm>
            <a:off x="2606040" y="4818888"/>
            <a:ext cx="4023360" cy="566928"/>
          </a:xfrm>
          <a:prstGeom prst="rect">
            <a:avLst/>
          </a:prstGeom>
          <a:noFill/>
          <a:ln/>
        </p:spPr>
        <p:txBody>
          <a:bodyPr wrap="square" lIns="0" tIns="0" rIns="0" bIns="0" rtlCol="0" anchor="ctr"/>
          <a:lstStyle/>
          <a:p>
            <a:pPr indent="0" marL="0">
              <a:buNone/>
            </a:pPr>
            <a:r>
              <a:rPr lang="en-US" sz="1300" dirty="0">
                <a:solidFill>
                  <a:schemeClr val="accent3"/>
                </a:solidFill>
              </a:rPr>
              <a:t>Informal; refunds untracked</a:t>
            </a:r>
            <a:endParaRPr lang="en-US" sz="1300" dirty="0"/>
          </a:p>
        </p:txBody>
      </p:sp>
      <p:sp>
        <p:nvSpPr>
          <p:cNvPr id="31" name="Text 29"/>
          <p:cNvSpPr txBox="1"/>
          <p:nvPr/>
        </p:nvSpPr>
        <p:spPr>
          <a:xfrm>
            <a:off x="7086600" y="4818888"/>
            <a:ext cx="4343400" cy="566928"/>
          </a:xfrm>
          <a:prstGeom prst="rect">
            <a:avLst/>
          </a:prstGeom>
          <a:noFill/>
          <a:ln/>
        </p:spPr>
        <p:txBody>
          <a:bodyPr wrap="square" lIns="0" tIns="0" rIns="0" bIns="0" rtlCol="0" anchor="ctr"/>
          <a:lstStyle/>
          <a:p>
            <a:pPr indent="0" marL="0">
              <a:buNone/>
            </a:pPr>
            <a:r>
              <a:rPr lang="en-US" sz="1300" dirty="0">
                <a:solidFill>
                  <a:schemeClr val="tx1"/>
                </a:solidFill>
              </a:rPr>
              <a:t>Admin-approved; tickets invalidated; refunds tracked</a:t>
            </a:r>
            <a:endParaRPr lang="en-US" sz="1300" dirty="0"/>
          </a:p>
        </p:txBody>
      </p:sp>
      <p:sp>
        <p:nvSpPr>
          <p:cNvPr id="32" name="row-rule"/>
          <p:cNvSpPr/>
          <p:nvPr/>
        </p:nvSpPr>
        <p:spPr>
          <a:xfrm>
            <a:off x="548640" y="5385816"/>
            <a:ext cx="6263640" cy="0"/>
          </a:xfrm>
          <a:prstGeom prst="line">
            <a:avLst/>
          </a:prstGeom>
          <a:noFill/>
          <a:ln w="9525">
            <a:solidFill>
              <a:schemeClr val="accent6"/>
            </a:solidFill>
            <a:prstDash val="solid"/>
          </a:ln>
        </p:spPr>
      </p:sp>
      <p:sp>
        <p:nvSpPr>
          <p:cNvPr id="33" name="Text 31"/>
          <p:cNvSpPr txBox="1"/>
          <p:nvPr/>
        </p:nvSpPr>
        <p:spPr>
          <a:xfrm>
            <a:off x="548640" y="5385816"/>
            <a:ext cx="2057400" cy="566928"/>
          </a:xfrm>
          <a:prstGeom prst="rect">
            <a:avLst/>
          </a:prstGeom>
          <a:noFill/>
          <a:ln/>
        </p:spPr>
        <p:txBody>
          <a:bodyPr wrap="square" lIns="0" tIns="0" rIns="0" bIns="0" rtlCol="0" anchor="ctr"/>
          <a:lstStyle/>
          <a:p>
            <a:pPr indent="0" marL="0">
              <a:buNone/>
            </a:pPr>
            <a:r>
              <a:rPr lang="en-US" sz="1400" b="1" dirty="0">
                <a:solidFill>
                  <a:schemeClr val="tx1"/>
                </a:solidFill>
              </a:rPr>
              <a:t>Visibility</a:t>
            </a:r>
            <a:endParaRPr lang="en-US" sz="1400" dirty="0"/>
          </a:p>
        </p:txBody>
      </p:sp>
      <p:sp>
        <p:nvSpPr>
          <p:cNvPr id="34" name="Text 32"/>
          <p:cNvSpPr txBox="1"/>
          <p:nvPr/>
        </p:nvSpPr>
        <p:spPr>
          <a:xfrm>
            <a:off x="2606040" y="5385816"/>
            <a:ext cx="4023360" cy="566928"/>
          </a:xfrm>
          <a:prstGeom prst="rect">
            <a:avLst/>
          </a:prstGeom>
          <a:noFill/>
          <a:ln/>
        </p:spPr>
        <p:txBody>
          <a:bodyPr wrap="square" lIns="0" tIns="0" rIns="0" bIns="0" rtlCol="0" anchor="ctr"/>
          <a:lstStyle/>
          <a:p>
            <a:pPr indent="0" marL="0">
              <a:buNone/>
            </a:pPr>
            <a:r>
              <a:rPr lang="en-US" sz="1300" dirty="0">
                <a:solidFill>
                  <a:schemeClr val="accent3"/>
                </a:solidFill>
              </a:rPr>
              <a:t>No live view</a:t>
            </a:r>
            <a:endParaRPr lang="en-US" sz="1300" dirty="0"/>
          </a:p>
        </p:txBody>
      </p:sp>
      <p:sp>
        <p:nvSpPr>
          <p:cNvPr id="35" name="Text 33"/>
          <p:cNvSpPr txBox="1"/>
          <p:nvPr/>
        </p:nvSpPr>
        <p:spPr>
          <a:xfrm>
            <a:off x="7086600" y="5385816"/>
            <a:ext cx="4343400" cy="566928"/>
          </a:xfrm>
          <a:prstGeom prst="rect">
            <a:avLst/>
          </a:prstGeom>
          <a:noFill/>
          <a:ln/>
        </p:spPr>
        <p:txBody>
          <a:bodyPr wrap="square" lIns="0" tIns="0" rIns="0" bIns="0" rtlCol="0" anchor="ctr"/>
          <a:lstStyle/>
          <a:p>
            <a:pPr indent="0" marL="0">
              <a:buNone/>
            </a:pPr>
            <a:r>
              <a:rPr lang="en-US" sz="1300" dirty="0">
                <a:solidFill>
                  <a:schemeClr val="tx1"/>
                </a:solidFill>
              </a:rPr>
              <a:t>Dashboards, realtime notifications, audit log</a:t>
            </a:r>
            <a:endParaRPr lang="en-US" sz="13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SYSTEM ARCHITECTURE</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Four tiers, with rules kept on the server</a:t>
            </a:r>
            <a:endParaRPr lang="en-US" sz="3000" dirty="0"/>
          </a:p>
        </p:txBody>
      </p:sp>
      <p:sp>
        <p:nvSpPr>
          <p:cNvPr id="4" name="card"/>
          <p:cNvSpPr/>
          <p:nvPr/>
        </p:nvSpPr>
        <p:spPr>
          <a:xfrm>
            <a:off x="548640" y="1417320"/>
            <a:ext cx="6949440" cy="4800600"/>
          </a:xfrm>
          <a:prstGeom prst="roundRect">
            <a:avLst>
              <a:gd name="adj" fmla="val 1905"/>
            </a:avLst>
          </a:prstGeom>
          <a:solidFill>
            <a:schemeClr val="bg1"/>
          </a:solidFill>
          <a:ln w="12700">
            <a:solidFill>
              <a:schemeClr val="accent6"/>
            </a:solidFill>
            <a:prstDash val="solid"/>
          </a:ln>
        </p:spPr>
      </p:sp>
      <p:pic>
        <p:nvPicPr>
          <p:cNvPr id="5" name="Image 0" descr="System architecture of EventDeck: client, edge, application and data tiers with Supabase and Razorpay">    </p:cNvPr>
          <p:cNvPicPr>
            <a:picLocks noChangeAspect="1"/>
          </p:cNvPicPr>
          <p:nvPr/>
        </p:nvPicPr>
        <p:blipFill>
          <a:blip r:embed="rId1"/>
          <a:stretch>
            <a:fillRect/>
          </a:stretch>
        </p:blipFill>
        <p:spPr>
          <a:xfrm>
            <a:off x="896112" y="1508760"/>
            <a:ext cx="6254496" cy="4617720"/>
          </a:xfrm>
          <a:prstGeom prst="rect">
            <a:avLst/>
          </a:prstGeom>
        </p:spPr>
      </p:pic>
      <p:sp>
        <p:nvSpPr>
          <p:cNvPr id="6" name="icon-circle"/>
          <p:cNvSpPr/>
          <p:nvPr/>
        </p:nvSpPr>
        <p:spPr>
          <a:xfrm>
            <a:off x="7772400" y="1508760"/>
            <a:ext cx="438912" cy="438912"/>
          </a:xfrm>
          <a:prstGeom prst="ellipse">
            <a:avLst/>
          </a:prstGeom>
          <a:solidFill>
            <a:schemeClr val="accent1"/>
          </a:solidFill>
          <a:ln w="12700">
            <a:solidFill>
              <a:schemeClr val="accent1"/>
            </a:solidFill>
            <a:prstDash val="solid"/>
          </a:ln>
        </p:spPr>
      </p:sp>
      <p:pic>
        <p:nvPicPr>
          <p:cNvPr id="7" name="Image 1" descr="LuGlobe">    </p:cNvPr>
          <p:cNvPicPr>
            <a:picLocks noChangeAspect="1"/>
          </p:cNvPicPr>
          <p:nvPr/>
        </p:nvPicPr>
        <p:blipFill>
          <a:blip r:embed="rId2"/>
          <a:stretch>
            <a:fillRect/>
          </a:stretch>
        </p:blipFill>
        <p:spPr>
          <a:xfrm>
            <a:off x="7877739" y="1614099"/>
            <a:ext cx="228234" cy="228234"/>
          </a:xfrm>
          <a:prstGeom prst="rect">
            <a:avLst/>
          </a:prstGeom>
        </p:spPr>
      </p:pic>
      <p:sp>
        <p:nvSpPr>
          <p:cNvPr id="8" name="Text 4"/>
          <p:cNvSpPr txBox="1"/>
          <p:nvPr/>
        </p:nvSpPr>
        <p:spPr>
          <a:xfrm>
            <a:off x="8366760" y="1463040"/>
            <a:ext cx="3246120" cy="274320"/>
          </a:xfrm>
          <a:prstGeom prst="rect">
            <a:avLst/>
          </a:prstGeom>
          <a:noFill/>
          <a:ln/>
        </p:spPr>
        <p:txBody>
          <a:bodyPr wrap="square" lIns="0" tIns="0" rIns="0" bIns="0" rtlCol="0" anchor="t"/>
          <a:lstStyle/>
          <a:p>
            <a:pPr indent="0" marL="0">
              <a:buNone/>
            </a:pPr>
            <a:r>
              <a:rPr lang="en-US" sz="1400" b="1" dirty="0">
                <a:solidFill>
                  <a:schemeClr val="tx1"/>
                </a:solidFill>
              </a:rPr>
              <a:t>Client &amp; edge</a:t>
            </a:r>
            <a:endParaRPr lang="en-US" sz="1400" dirty="0"/>
          </a:p>
        </p:txBody>
      </p:sp>
      <p:sp>
        <p:nvSpPr>
          <p:cNvPr id="9" name="Text 5"/>
          <p:cNvSpPr txBox="1"/>
          <p:nvPr/>
        </p:nvSpPr>
        <p:spPr>
          <a:xfrm>
            <a:off x="8366760" y="1755648"/>
            <a:ext cx="3246120" cy="868680"/>
          </a:xfrm>
          <a:prstGeom prst="rect">
            <a:avLst/>
          </a:prstGeom>
          <a:noFill/>
          <a:ln/>
        </p:spPr>
        <p:txBody>
          <a:bodyPr wrap="square" lIns="0" tIns="0" rIns="0" bIns="0" rtlCol="0" anchor="t"/>
          <a:lstStyle/>
          <a:p>
            <a:pPr indent="0" marL="0">
              <a:buNone/>
            </a:pPr>
            <a:r>
              <a:rPr lang="en-US" sz="1200" dirty="0">
                <a:solidFill>
                  <a:schemeClr val="tx2"/>
                </a:solidFill>
              </a:rPr>
              <a:t>Browser or phone. src/proxy.ts refreshes the Supabase session and redirects signed-out users.</a:t>
            </a:r>
            <a:endParaRPr lang="en-US" sz="1200" dirty="0"/>
          </a:p>
        </p:txBody>
      </p:sp>
      <p:sp>
        <p:nvSpPr>
          <p:cNvPr id="10" name="icon-circle"/>
          <p:cNvSpPr/>
          <p:nvPr/>
        </p:nvSpPr>
        <p:spPr>
          <a:xfrm>
            <a:off x="7772400" y="2697480"/>
            <a:ext cx="438912" cy="438912"/>
          </a:xfrm>
          <a:prstGeom prst="ellipse">
            <a:avLst/>
          </a:prstGeom>
          <a:solidFill>
            <a:schemeClr val="accent1"/>
          </a:solidFill>
          <a:ln w="12700">
            <a:solidFill>
              <a:schemeClr val="accent1"/>
            </a:solidFill>
            <a:prstDash val="solid"/>
          </a:ln>
        </p:spPr>
      </p:sp>
      <p:pic>
        <p:nvPicPr>
          <p:cNvPr id="11" name="Image 2" descr="LuServer">    </p:cNvPr>
          <p:cNvPicPr>
            <a:picLocks noChangeAspect="1"/>
          </p:cNvPicPr>
          <p:nvPr/>
        </p:nvPicPr>
        <p:blipFill>
          <a:blip r:embed="rId3"/>
          <a:stretch>
            <a:fillRect/>
          </a:stretch>
        </p:blipFill>
        <p:spPr>
          <a:xfrm>
            <a:off x="7877739" y="2802819"/>
            <a:ext cx="228234" cy="228234"/>
          </a:xfrm>
          <a:prstGeom prst="rect">
            <a:avLst/>
          </a:prstGeom>
        </p:spPr>
      </p:pic>
      <p:sp>
        <p:nvSpPr>
          <p:cNvPr id="12" name="Text 7"/>
          <p:cNvSpPr txBox="1"/>
          <p:nvPr/>
        </p:nvSpPr>
        <p:spPr>
          <a:xfrm>
            <a:off x="8366760" y="2651760"/>
            <a:ext cx="3246120" cy="274320"/>
          </a:xfrm>
          <a:prstGeom prst="rect">
            <a:avLst/>
          </a:prstGeom>
          <a:noFill/>
          <a:ln/>
        </p:spPr>
        <p:txBody>
          <a:bodyPr wrap="square" lIns="0" tIns="0" rIns="0" bIns="0" rtlCol="0" anchor="t"/>
          <a:lstStyle/>
          <a:p>
            <a:pPr indent="0" marL="0">
              <a:buNone/>
            </a:pPr>
            <a:r>
              <a:rPr lang="en-US" sz="1400" b="1" dirty="0">
                <a:solidFill>
                  <a:schemeClr val="tx1"/>
                </a:solidFill>
              </a:rPr>
              <a:t>Application tier</a:t>
            </a:r>
            <a:endParaRPr lang="en-US" sz="1400" dirty="0"/>
          </a:p>
        </p:txBody>
      </p:sp>
      <p:sp>
        <p:nvSpPr>
          <p:cNvPr id="13" name="Text 8"/>
          <p:cNvSpPr txBox="1"/>
          <p:nvPr/>
        </p:nvSpPr>
        <p:spPr>
          <a:xfrm>
            <a:off x="8366760" y="2944368"/>
            <a:ext cx="3246120" cy="868680"/>
          </a:xfrm>
          <a:prstGeom prst="rect">
            <a:avLst/>
          </a:prstGeom>
          <a:noFill/>
          <a:ln/>
        </p:spPr>
        <p:txBody>
          <a:bodyPr wrap="square" lIns="0" tIns="0" rIns="0" bIns="0" rtlCol="0" anchor="t"/>
          <a:lstStyle/>
          <a:p>
            <a:pPr indent="0" marL="0">
              <a:buNone/>
            </a:pPr>
            <a:r>
              <a:rPr lang="en-US" sz="1200" dirty="0">
                <a:solidFill>
                  <a:schemeClr val="tx2"/>
                </a:solidFill>
              </a:rPr>
              <a:t>Server Components, Server Actions and route handlers call shared domain modules in src/lib.</a:t>
            </a:r>
            <a:endParaRPr lang="en-US" sz="1200" dirty="0"/>
          </a:p>
        </p:txBody>
      </p:sp>
      <p:sp>
        <p:nvSpPr>
          <p:cNvPr id="14" name="icon-circle"/>
          <p:cNvSpPr/>
          <p:nvPr/>
        </p:nvSpPr>
        <p:spPr>
          <a:xfrm>
            <a:off x="7772400" y="3886200"/>
            <a:ext cx="438912" cy="438912"/>
          </a:xfrm>
          <a:prstGeom prst="ellipse">
            <a:avLst/>
          </a:prstGeom>
          <a:solidFill>
            <a:schemeClr val="accent1"/>
          </a:solidFill>
          <a:ln w="12700">
            <a:solidFill>
              <a:schemeClr val="accent1"/>
            </a:solidFill>
            <a:prstDash val="solid"/>
          </a:ln>
        </p:spPr>
      </p:sp>
      <p:pic>
        <p:nvPicPr>
          <p:cNvPr id="15" name="Image 3" descr="LuDatabase">    </p:cNvPr>
          <p:cNvPicPr>
            <a:picLocks noChangeAspect="1"/>
          </p:cNvPicPr>
          <p:nvPr/>
        </p:nvPicPr>
        <p:blipFill>
          <a:blip r:embed="rId4"/>
          <a:stretch>
            <a:fillRect/>
          </a:stretch>
        </p:blipFill>
        <p:spPr>
          <a:xfrm>
            <a:off x="7877739" y="3991539"/>
            <a:ext cx="228234" cy="228234"/>
          </a:xfrm>
          <a:prstGeom prst="rect">
            <a:avLst/>
          </a:prstGeom>
        </p:spPr>
      </p:pic>
      <p:sp>
        <p:nvSpPr>
          <p:cNvPr id="16" name="Text 10"/>
          <p:cNvSpPr txBox="1"/>
          <p:nvPr/>
        </p:nvSpPr>
        <p:spPr>
          <a:xfrm>
            <a:off x="8366760" y="3840480"/>
            <a:ext cx="3246120" cy="274320"/>
          </a:xfrm>
          <a:prstGeom prst="rect">
            <a:avLst/>
          </a:prstGeom>
          <a:noFill/>
          <a:ln/>
        </p:spPr>
        <p:txBody>
          <a:bodyPr wrap="square" lIns="0" tIns="0" rIns="0" bIns="0" rtlCol="0" anchor="t"/>
          <a:lstStyle/>
          <a:p>
            <a:pPr indent="0" marL="0">
              <a:buNone/>
            </a:pPr>
            <a:r>
              <a:rPr lang="en-US" sz="1400" b="1" dirty="0">
                <a:solidFill>
                  <a:schemeClr val="tx1"/>
                </a:solidFill>
              </a:rPr>
              <a:t>Data tier</a:t>
            </a:r>
            <a:endParaRPr lang="en-US" sz="1400" dirty="0"/>
          </a:p>
        </p:txBody>
      </p:sp>
      <p:sp>
        <p:nvSpPr>
          <p:cNvPr id="17" name="Text 11"/>
          <p:cNvSpPr txBox="1"/>
          <p:nvPr/>
        </p:nvSpPr>
        <p:spPr>
          <a:xfrm>
            <a:off x="8366760" y="4133088"/>
            <a:ext cx="3246120" cy="868680"/>
          </a:xfrm>
          <a:prstGeom prst="rect">
            <a:avLst/>
          </a:prstGeom>
          <a:noFill/>
          <a:ln/>
        </p:spPr>
        <p:txBody>
          <a:bodyPr wrap="square" lIns="0" tIns="0" rIns="0" bIns="0" rtlCol="0" anchor="t"/>
          <a:lstStyle/>
          <a:p>
            <a:pPr indent="0" marL="0">
              <a:buNone/>
            </a:pPr>
            <a:r>
              <a:rPr lang="en-US" sz="1200" dirty="0">
                <a:solidFill>
                  <a:schemeClr val="tx2"/>
                </a:solidFill>
              </a:rPr>
              <a:t>Supabase PostgreSQL through Drizzle ORM; constraints and row-level security as the final guard.</a:t>
            </a:r>
            <a:endParaRPr lang="en-US" sz="1200" dirty="0"/>
          </a:p>
        </p:txBody>
      </p:sp>
      <p:sp>
        <p:nvSpPr>
          <p:cNvPr id="18" name="icon-circle"/>
          <p:cNvSpPr/>
          <p:nvPr/>
        </p:nvSpPr>
        <p:spPr>
          <a:xfrm>
            <a:off x="7772400" y="5074920"/>
            <a:ext cx="438912" cy="438912"/>
          </a:xfrm>
          <a:prstGeom prst="ellipse">
            <a:avLst/>
          </a:prstGeom>
          <a:solidFill>
            <a:schemeClr val="accent1"/>
          </a:solidFill>
          <a:ln w="12700">
            <a:solidFill>
              <a:schemeClr val="accent1"/>
            </a:solidFill>
            <a:prstDash val="solid"/>
          </a:ln>
        </p:spPr>
      </p:sp>
      <p:pic>
        <p:nvPicPr>
          <p:cNvPr id="19" name="Image 4" descr="LuPlug">    </p:cNvPr>
          <p:cNvPicPr>
            <a:picLocks noChangeAspect="1"/>
          </p:cNvPicPr>
          <p:nvPr/>
        </p:nvPicPr>
        <p:blipFill>
          <a:blip r:embed="rId5"/>
          <a:stretch>
            <a:fillRect/>
          </a:stretch>
        </p:blipFill>
        <p:spPr>
          <a:xfrm>
            <a:off x="7877739" y="5180259"/>
            <a:ext cx="228234" cy="228234"/>
          </a:xfrm>
          <a:prstGeom prst="rect">
            <a:avLst/>
          </a:prstGeom>
        </p:spPr>
      </p:pic>
      <p:sp>
        <p:nvSpPr>
          <p:cNvPr id="20" name="Text 13"/>
          <p:cNvSpPr txBox="1"/>
          <p:nvPr/>
        </p:nvSpPr>
        <p:spPr>
          <a:xfrm>
            <a:off x="8366760" y="5029200"/>
            <a:ext cx="3246120" cy="274320"/>
          </a:xfrm>
          <a:prstGeom prst="rect">
            <a:avLst/>
          </a:prstGeom>
          <a:noFill/>
          <a:ln/>
        </p:spPr>
        <p:txBody>
          <a:bodyPr wrap="square" lIns="0" tIns="0" rIns="0" bIns="0" rtlCol="0" anchor="t"/>
          <a:lstStyle/>
          <a:p>
            <a:pPr indent="0" marL="0">
              <a:buNone/>
            </a:pPr>
            <a:r>
              <a:rPr lang="en-US" sz="1400" b="1" dirty="0">
                <a:solidFill>
                  <a:schemeClr val="tx1"/>
                </a:solidFill>
              </a:rPr>
              <a:t>External services</a:t>
            </a:r>
            <a:endParaRPr lang="en-US" sz="1400" dirty="0"/>
          </a:p>
        </p:txBody>
      </p:sp>
      <p:sp>
        <p:nvSpPr>
          <p:cNvPr id="21" name="Text 14"/>
          <p:cNvSpPr txBox="1"/>
          <p:nvPr/>
        </p:nvSpPr>
        <p:spPr>
          <a:xfrm>
            <a:off x="8366760" y="5321808"/>
            <a:ext cx="3246120" cy="868680"/>
          </a:xfrm>
          <a:prstGeom prst="rect">
            <a:avLst/>
          </a:prstGeom>
          <a:noFill/>
          <a:ln/>
        </p:spPr>
        <p:txBody>
          <a:bodyPr wrap="square" lIns="0" tIns="0" rIns="0" bIns="0" rtlCol="0" anchor="t"/>
          <a:lstStyle/>
          <a:p>
            <a:pPr indent="0" marL="0">
              <a:buNone/>
            </a:pPr>
            <a:r>
              <a:rPr lang="en-US" sz="1200" dirty="0">
                <a:solidFill>
                  <a:schemeClr val="tx2"/>
                </a:solidFill>
              </a:rPr>
              <a:t>Supabase Auth, Storage and Realtime; Razorpay Test Mode via server routes and signed webhooks.</a:t>
            </a:r>
            <a:endParaRPr lang="en-US" sz="12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TECHNOLOGY STACK</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Modern, typed and fully managed</a:t>
            </a:r>
            <a:endParaRPr lang="en-US" sz="3000" dirty="0"/>
          </a:p>
        </p:txBody>
      </p:sp>
      <p:sp>
        <p:nvSpPr>
          <p:cNvPr id="4" name="card"/>
          <p:cNvSpPr/>
          <p:nvPr/>
        </p:nvSpPr>
        <p:spPr>
          <a:xfrm>
            <a:off x="548640" y="1463040"/>
            <a:ext cx="2606040" cy="2194560"/>
          </a:xfrm>
          <a:prstGeom prst="roundRect">
            <a:avLst>
              <a:gd name="adj" fmla="val 4167"/>
            </a:avLst>
          </a:prstGeom>
          <a:solidFill>
            <a:schemeClr val="bg2"/>
          </a:solidFill>
          <a:ln w="9525">
            <a:solidFill>
              <a:schemeClr val="bg2"/>
            </a:solidFill>
            <a:prstDash val="solid"/>
          </a:ln>
        </p:spPr>
      </p:sp>
      <p:sp>
        <p:nvSpPr>
          <p:cNvPr id="5" name="icon-circle"/>
          <p:cNvSpPr/>
          <p:nvPr/>
        </p:nvSpPr>
        <p:spPr>
          <a:xfrm>
            <a:off x="822960" y="1737360"/>
            <a:ext cx="502920" cy="502920"/>
          </a:xfrm>
          <a:prstGeom prst="ellipse">
            <a:avLst/>
          </a:prstGeom>
          <a:solidFill>
            <a:schemeClr val="accent1"/>
          </a:solidFill>
          <a:ln w="12700">
            <a:solidFill>
              <a:schemeClr val="accent1"/>
            </a:solidFill>
            <a:prstDash val="solid"/>
          </a:ln>
        </p:spPr>
      </p:sp>
      <p:pic>
        <p:nvPicPr>
          <p:cNvPr id="6" name="Image 0" descr="LuAppWindow">    </p:cNvPr>
          <p:cNvPicPr>
            <a:picLocks noChangeAspect="1"/>
          </p:cNvPicPr>
          <p:nvPr/>
        </p:nvPicPr>
        <p:blipFill>
          <a:blip r:embed="rId1"/>
          <a:stretch>
            <a:fillRect/>
          </a:stretch>
        </p:blipFill>
        <p:spPr>
          <a:xfrm>
            <a:off x="943661" y="1858061"/>
            <a:ext cx="261518" cy="261518"/>
          </a:xfrm>
          <a:prstGeom prst="rect">
            <a:avLst/>
          </a:prstGeom>
        </p:spPr>
      </p:pic>
      <p:sp>
        <p:nvSpPr>
          <p:cNvPr id="7" name="Text 4"/>
          <p:cNvSpPr txBox="1"/>
          <p:nvPr/>
        </p:nvSpPr>
        <p:spPr>
          <a:xfrm>
            <a:off x="822960" y="2377440"/>
            <a:ext cx="2148840" cy="320040"/>
          </a:xfrm>
          <a:prstGeom prst="rect">
            <a:avLst/>
          </a:prstGeom>
          <a:noFill/>
          <a:ln/>
        </p:spPr>
        <p:txBody>
          <a:bodyPr wrap="square" lIns="0" tIns="0" rIns="0" bIns="0" rtlCol="0" anchor="t"/>
          <a:lstStyle/>
          <a:p>
            <a:pPr indent="0" marL="0">
              <a:buNone/>
            </a:pPr>
            <a:r>
              <a:rPr lang="en-US" sz="1500" b="1" dirty="0">
                <a:solidFill>
                  <a:schemeClr val="tx1"/>
                </a:solidFill>
              </a:rPr>
              <a:t>Framework</a:t>
            </a:r>
            <a:endParaRPr lang="en-US" sz="1500" dirty="0"/>
          </a:p>
        </p:txBody>
      </p:sp>
      <p:sp>
        <p:nvSpPr>
          <p:cNvPr id="8" name="Text 5"/>
          <p:cNvSpPr txBox="1"/>
          <p:nvPr/>
        </p:nvSpPr>
        <p:spPr>
          <a:xfrm>
            <a:off x="822960" y="2724912"/>
            <a:ext cx="2194560" cy="822960"/>
          </a:xfrm>
          <a:prstGeom prst="rect">
            <a:avLst/>
          </a:prstGeom>
          <a:noFill/>
          <a:ln/>
        </p:spPr>
        <p:txBody>
          <a:bodyPr wrap="square" lIns="0" tIns="0" rIns="0" bIns="0" rtlCol="0" anchor="t"/>
          <a:lstStyle/>
          <a:p>
            <a:pPr indent="0" marL="0">
              <a:buNone/>
            </a:pPr>
            <a:r>
              <a:rPr lang="en-US" sz="1200" dirty="0">
                <a:solidFill>
                  <a:schemeClr val="tx2"/>
                </a:solidFill>
              </a:rPr>
              <a:t>Next.js 16.4 (App Router)</a:t>
            </a:r>
            <a:endParaRPr lang="en-US" sz="1200" dirty="0"/>
          </a:p>
          <a:p>
            <a:pPr indent="0" marL="0">
              <a:buNone/>
            </a:pPr>
            <a:r>
              <a:rPr lang="en-US" sz="1200" dirty="0">
                <a:solidFill>
                  <a:schemeClr val="tx2"/>
                </a:solidFill>
              </a:rPr>
              <a:t>React 19 · TypeScript 5</a:t>
            </a:r>
            <a:endParaRPr lang="en-US" sz="1200" dirty="0"/>
          </a:p>
        </p:txBody>
      </p:sp>
      <p:sp>
        <p:nvSpPr>
          <p:cNvPr id="9" name="card"/>
          <p:cNvSpPr/>
          <p:nvPr/>
        </p:nvSpPr>
        <p:spPr>
          <a:xfrm>
            <a:off x="3355848" y="1463040"/>
            <a:ext cx="2606040" cy="2194560"/>
          </a:xfrm>
          <a:prstGeom prst="roundRect">
            <a:avLst>
              <a:gd name="adj" fmla="val 4167"/>
            </a:avLst>
          </a:prstGeom>
          <a:solidFill>
            <a:schemeClr val="bg2"/>
          </a:solidFill>
          <a:ln w="9525">
            <a:solidFill>
              <a:schemeClr val="bg2"/>
            </a:solidFill>
            <a:prstDash val="solid"/>
          </a:ln>
        </p:spPr>
      </p:sp>
      <p:sp>
        <p:nvSpPr>
          <p:cNvPr id="10" name="icon-circle"/>
          <p:cNvSpPr/>
          <p:nvPr/>
        </p:nvSpPr>
        <p:spPr>
          <a:xfrm>
            <a:off x="3630168" y="1737360"/>
            <a:ext cx="502920" cy="502920"/>
          </a:xfrm>
          <a:prstGeom prst="ellipse">
            <a:avLst/>
          </a:prstGeom>
          <a:solidFill>
            <a:schemeClr val="accent1"/>
          </a:solidFill>
          <a:ln w="12700">
            <a:solidFill>
              <a:schemeClr val="accent1"/>
            </a:solidFill>
            <a:prstDash val="solid"/>
          </a:ln>
        </p:spPr>
      </p:sp>
      <p:pic>
        <p:nvPicPr>
          <p:cNvPr id="11" name="Image 1" descr="LuPalette">    </p:cNvPr>
          <p:cNvPicPr>
            <a:picLocks noChangeAspect="1"/>
          </p:cNvPicPr>
          <p:nvPr/>
        </p:nvPicPr>
        <p:blipFill>
          <a:blip r:embed="rId2"/>
          <a:stretch>
            <a:fillRect/>
          </a:stretch>
        </p:blipFill>
        <p:spPr>
          <a:xfrm>
            <a:off x="3750869" y="1858061"/>
            <a:ext cx="261518" cy="261518"/>
          </a:xfrm>
          <a:prstGeom prst="rect">
            <a:avLst/>
          </a:prstGeom>
        </p:spPr>
      </p:pic>
      <p:sp>
        <p:nvSpPr>
          <p:cNvPr id="12" name="Text 8"/>
          <p:cNvSpPr txBox="1"/>
          <p:nvPr/>
        </p:nvSpPr>
        <p:spPr>
          <a:xfrm>
            <a:off x="3630168" y="2377440"/>
            <a:ext cx="2148840" cy="320040"/>
          </a:xfrm>
          <a:prstGeom prst="rect">
            <a:avLst/>
          </a:prstGeom>
          <a:noFill/>
          <a:ln/>
        </p:spPr>
        <p:txBody>
          <a:bodyPr wrap="square" lIns="0" tIns="0" rIns="0" bIns="0" rtlCol="0" anchor="t"/>
          <a:lstStyle/>
          <a:p>
            <a:pPr indent="0" marL="0">
              <a:buNone/>
            </a:pPr>
            <a:r>
              <a:rPr lang="en-US" sz="1500" b="1" dirty="0">
                <a:solidFill>
                  <a:schemeClr val="tx1"/>
                </a:solidFill>
              </a:rPr>
              <a:t>Interface</a:t>
            </a:r>
            <a:endParaRPr lang="en-US" sz="1500" dirty="0"/>
          </a:p>
        </p:txBody>
      </p:sp>
      <p:sp>
        <p:nvSpPr>
          <p:cNvPr id="13" name="Text 9"/>
          <p:cNvSpPr txBox="1"/>
          <p:nvPr/>
        </p:nvSpPr>
        <p:spPr>
          <a:xfrm>
            <a:off x="3630168" y="2724912"/>
            <a:ext cx="2194560" cy="822960"/>
          </a:xfrm>
          <a:prstGeom prst="rect">
            <a:avLst/>
          </a:prstGeom>
          <a:noFill/>
          <a:ln/>
        </p:spPr>
        <p:txBody>
          <a:bodyPr wrap="square" lIns="0" tIns="0" rIns="0" bIns="0" rtlCol="0" anchor="t"/>
          <a:lstStyle/>
          <a:p>
            <a:pPr indent="0" marL="0">
              <a:buNone/>
            </a:pPr>
            <a:r>
              <a:rPr lang="en-US" sz="1200" dirty="0">
                <a:solidFill>
                  <a:schemeClr val="tx2"/>
                </a:solidFill>
              </a:rPr>
              <a:t>Tailwind CSS 4</a:t>
            </a:r>
            <a:endParaRPr lang="en-US" sz="1200" dirty="0"/>
          </a:p>
          <a:p>
            <a:pPr indent="0" marL="0">
              <a:buNone/>
            </a:pPr>
            <a:r>
              <a:rPr lang="en-US" sz="1200" dirty="0">
                <a:solidFill>
                  <a:schemeClr val="tx2"/>
                </a:solidFill>
              </a:rPr>
              <a:t>shadcn/ui on Base UI</a:t>
            </a:r>
            <a:endParaRPr lang="en-US" sz="1200" dirty="0"/>
          </a:p>
        </p:txBody>
      </p:sp>
      <p:sp>
        <p:nvSpPr>
          <p:cNvPr id="14" name="card"/>
          <p:cNvSpPr/>
          <p:nvPr/>
        </p:nvSpPr>
        <p:spPr>
          <a:xfrm>
            <a:off x="6163056" y="1463040"/>
            <a:ext cx="2606040" cy="2194560"/>
          </a:xfrm>
          <a:prstGeom prst="roundRect">
            <a:avLst>
              <a:gd name="adj" fmla="val 4167"/>
            </a:avLst>
          </a:prstGeom>
          <a:solidFill>
            <a:schemeClr val="bg2"/>
          </a:solidFill>
          <a:ln w="9525">
            <a:solidFill>
              <a:schemeClr val="bg2"/>
            </a:solidFill>
            <a:prstDash val="solid"/>
          </a:ln>
        </p:spPr>
      </p:sp>
      <p:sp>
        <p:nvSpPr>
          <p:cNvPr id="15" name="icon-circle"/>
          <p:cNvSpPr/>
          <p:nvPr/>
        </p:nvSpPr>
        <p:spPr>
          <a:xfrm>
            <a:off x="6437376" y="1737360"/>
            <a:ext cx="502920" cy="502920"/>
          </a:xfrm>
          <a:prstGeom prst="ellipse">
            <a:avLst/>
          </a:prstGeom>
          <a:solidFill>
            <a:schemeClr val="accent1"/>
          </a:solidFill>
          <a:ln w="12700">
            <a:solidFill>
              <a:schemeClr val="accent1"/>
            </a:solidFill>
            <a:prstDash val="solid"/>
          </a:ln>
        </p:spPr>
      </p:sp>
      <p:pic>
        <p:nvPicPr>
          <p:cNvPr id="16" name="Image 2" descr="LuDatabase">    </p:cNvPr>
          <p:cNvPicPr>
            <a:picLocks noChangeAspect="1"/>
          </p:cNvPicPr>
          <p:nvPr/>
        </p:nvPicPr>
        <p:blipFill>
          <a:blip r:embed="rId3"/>
          <a:stretch>
            <a:fillRect/>
          </a:stretch>
        </p:blipFill>
        <p:spPr>
          <a:xfrm>
            <a:off x="6558077" y="1858061"/>
            <a:ext cx="261518" cy="261518"/>
          </a:xfrm>
          <a:prstGeom prst="rect">
            <a:avLst/>
          </a:prstGeom>
        </p:spPr>
      </p:pic>
      <p:sp>
        <p:nvSpPr>
          <p:cNvPr id="17" name="Text 12"/>
          <p:cNvSpPr txBox="1"/>
          <p:nvPr/>
        </p:nvSpPr>
        <p:spPr>
          <a:xfrm>
            <a:off x="6437376" y="2377440"/>
            <a:ext cx="2148840" cy="320040"/>
          </a:xfrm>
          <a:prstGeom prst="rect">
            <a:avLst/>
          </a:prstGeom>
          <a:noFill/>
          <a:ln/>
        </p:spPr>
        <p:txBody>
          <a:bodyPr wrap="square" lIns="0" tIns="0" rIns="0" bIns="0" rtlCol="0" anchor="t"/>
          <a:lstStyle/>
          <a:p>
            <a:pPr indent="0" marL="0">
              <a:buNone/>
            </a:pPr>
            <a:r>
              <a:rPr lang="en-US" sz="1500" b="1" dirty="0">
                <a:solidFill>
                  <a:schemeClr val="tx1"/>
                </a:solidFill>
              </a:rPr>
              <a:t>Database</a:t>
            </a:r>
            <a:endParaRPr lang="en-US" sz="1500" dirty="0"/>
          </a:p>
        </p:txBody>
      </p:sp>
      <p:sp>
        <p:nvSpPr>
          <p:cNvPr id="18" name="Text 13"/>
          <p:cNvSpPr txBox="1"/>
          <p:nvPr/>
        </p:nvSpPr>
        <p:spPr>
          <a:xfrm>
            <a:off x="6437376" y="2724912"/>
            <a:ext cx="2194560" cy="822960"/>
          </a:xfrm>
          <a:prstGeom prst="rect">
            <a:avLst/>
          </a:prstGeom>
          <a:noFill/>
          <a:ln/>
        </p:spPr>
        <p:txBody>
          <a:bodyPr wrap="square" lIns="0" tIns="0" rIns="0" bIns="0" rtlCol="0" anchor="t"/>
          <a:lstStyle/>
          <a:p>
            <a:pPr indent="0" marL="0">
              <a:buNone/>
            </a:pPr>
            <a:r>
              <a:rPr lang="en-US" sz="1200" dirty="0">
                <a:solidFill>
                  <a:schemeClr val="tx2"/>
                </a:solidFill>
              </a:rPr>
              <a:t>Supabase PostgreSQL</a:t>
            </a:r>
            <a:endParaRPr lang="en-US" sz="1200" dirty="0"/>
          </a:p>
          <a:p>
            <a:pPr indent="0" marL="0">
              <a:buNone/>
            </a:pPr>
            <a:r>
              <a:rPr lang="en-US" sz="1200" dirty="0">
                <a:solidFill>
                  <a:schemeClr val="tx2"/>
                </a:solidFill>
              </a:rPr>
              <a:t>Drizzle ORM 0.45 · postgres.js</a:t>
            </a:r>
            <a:endParaRPr lang="en-US" sz="1200" dirty="0"/>
          </a:p>
        </p:txBody>
      </p:sp>
      <p:sp>
        <p:nvSpPr>
          <p:cNvPr id="19" name="card"/>
          <p:cNvSpPr/>
          <p:nvPr/>
        </p:nvSpPr>
        <p:spPr>
          <a:xfrm>
            <a:off x="8970264" y="1463040"/>
            <a:ext cx="2606040" cy="2194560"/>
          </a:xfrm>
          <a:prstGeom prst="roundRect">
            <a:avLst>
              <a:gd name="adj" fmla="val 4167"/>
            </a:avLst>
          </a:prstGeom>
          <a:solidFill>
            <a:schemeClr val="bg2"/>
          </a:solidFill>
          <a:ln w="9525">
            <a:solidFill>
              <a:schemeClr val="bg2"/>
            </a:solidFill>
            <a:prstDash val="solid"/>
          </a:ln>
        </p:spPr>
      </p:sp>
      <p:sp>
        <p:nvSpPr>
          <p:cNvPr id="20" name="icon-circle"/>
          <p:cNvSpPr/>
          <p:nvPr/>
        </p:nvSpPr>
        <p:spPr>
          <a:xfrm>
            <a:off x="9244584" y="1737360"/>
            <a:ext cx="502920" cy="502920"/>
          </a:xfrm>
          <a:prstGeom prst="ellipse">
            <a:avLst/>
          </a:prstGeom>
          <a:solidFill>
            <a:schemeClr val="accent1"/>
          </a:solidFill>
          <a:ln w="12700">
            <a:solidFill>
              <a:schemeClr val="accent1"/>
            </a:solidFill>
            <a:prstDash val="solid"/>
          </a:ln>
        </p:spPr>
      </p:sp>
      <p:pic>
        <p:nvPicPr>
          <p:cNvPr id="21" name="Image 3" descr="LuKeyRound">    </p:cNvPr>
          <p:cNvPicPr>
            <a:picLocks noChangeAspect="1"/>
          </p:cNvPicPr>
          <p:nvPr/>
        </p:nvPicPr>
        <p:blipFill>
          <a:blip r:embed="rId4"/>
          <a:stretch>
            <a:fillRect/>
          </a:stretch>
        </p:blipFill>
        <p:spPr>
          <a:xfrm>
            <a:off x="9365285" y="1858061"/>
            <a:ext cx="261518" cy="261518"/>
          </a:xfrm>
          <a:prstGeom prst="rect">
            <a:avLst/>
          </a:prstGeom>
        </p:spPr>
      </p:pic>
      <p:sp>
        <p:nvSpPr>
          <p:cNvPr id="22" name="Text 16"/>
          <p:cNvSpPr txBox="1"/>
          <p:nvPr/>
        </p:nvSpPr>
        <p:spPr>
          <a:xfrm>
            <a:off x="9244584" y="2377440"/>
            <a:ext cx="2148840" cy="320040"/>
          </a:xfrm>
          <a:prstGeom prst="rect">
            <a:avLst/>
          </a:prstGeom>
          <a:noFill/>
          <a:ln/>
        </p:spPr>
        <p:txBody>
          <a:bodyPr wrap="square" lIns="0" tIns="0" rIns="0" bIns="0" rtlCol="0" anchor="t"/>
          <a:lstStyle/>
          <a:p>
            <a:pPr indent="0" marL="0">
              <a:buNone/>
            </a:pPr>
            <a:r>
              <a:rPr lang="en-US" sz="1500" b="1" dirty="0">
                <a:solidFill>
                  <a:schemeClr val="tx1"/>
                </a:solidFill>
              </a:rPr>
              <a:t>Auth &amp; e-mail</a:t>
            </a:r>
            <a:endParaRPr lang="en-US" sz="1500" dirty="0"/>
          </a:p>
        </p:txBody>
      </p:sp>
      <p:sp>
        <p:nvSpPr>
          <p:cNvPr id="23" name="Text 17"/>
          <p:cNvSpPr txBox="1"/>
          <p:nvPr/>
        </p:nvSpPr>
        <p:spPr>
          <a:xfrm>
            <a:off x="9244584" y="2724912"/>
            <a:ext cx="2194560" cy="822960"/>
          </a:xfrm>
          <a:prstGeom prst="rect">
            <a:avLst/>
          </a:prstGeom>
          <a:noFill/>
          <a:ln/>
        </p:spPr>
        <p:txBody>
          <a:bodyPr wrap="square" lIns="0" tIns="0" rIns="0" bIns="0" rtlCol="0" anchor="t"/>
          <a:lstStyle/>
          <a:p>
            <a:pPr indent="0" marL="0">
              <a:buNone/>
            </a:pPr>
            <a:r>
              <a:rPr lang="en-US" sz="1200" dirty="0">
                <a:solidFill>
                  <a:schemeClr val="tx2"/>
                </a:solidFill>
              </a:rPr>
              <a:t>Supabase Auth sessions</a:t>
            </a:r>
            <a:endParaRPr lang="en-US" sz="1200" dirty="0"/>
          </a:p>
          <a:p>
            <a:pPr indent="0" marL="0">
              <a:buNone/>
            </a:pPr>
            <a:r>
              <a:rPr lang="en-US" sz="1200" dirty="0">
                <a:solidFill>
                  <a:schemeClr val="tx2"/>
                </a:solidFill>
              </a:rPr>
              <a:t>Brevo SMTP for auth e-mails</a:t>
            </a:r>
            <a:endParaRPr lang="en-US" sz="1200" dirty="0"/>
          </a:p>
        </p:txBody>
      </p:sp>
      <p:sp>
        <p:nvSpPr>
          <p:cNvPr id="24" name="card"/>
          <p:cNvSpPr/>
          <p:nvPr/>
        </p:nvSpPr>
        <p:spPr>
          <a:xfrm>
            <a:off x="548640" y="3858768"/>
            <a:ext cx="2606040" cy="2194560"/>
          </a:xfrm>
          <a:prstGeom prst="roundRect">
            <a:avLst>
              <a:gd name="adj" fmla="val 4167"/>
            </a:avLst>
          </a:prstGeom>
          <a:solidFill>
            <a:schemeClr val="bg2"/>
          </a:solidFill>
          <a:ln w="9525">
            <a:solidFill>
              <a:schemeClr val="bg2"/>
            </a:solidFill>
            <a:prstDash val="solid"/>
          </a:ln>
        </p:spPr>
      </p:sp>
      <p:sp>
        <p:nvSpPr>
          <p:cNvPr id="25" name="icon-circle"/>
          <p:cNvSpPr/>
          <p:nvPr/>
        </p:nvSpPr>
        <p:spPr>
          <a:xfrm>
            <a:off x="822960" y="4133088"/>
            <a:ext cx="502920" cy="502920"/>
          </a:xfrm>
          <a:prstGeom prst="ellipse">
            <a:avLst/>
          </a:prstGeom>
          <a:solidFill>
            <a:schemeClr val="accent1"/>
          </a:solidFill>
          <a:ln w="12700">
            <a:solidFill>
              <a:schemeClr val="accent1"/>
            </a:solidFill>
            <a:prstDash val="solid"/>
          </a:ln>
        </p:spPr>
      </p:sp>
      <p:pic>
        <p:nvPicPr>
          <p:cNvPr id="26" name="Image 4" descr="LuCreditCard">    </p:cNvPr>
          <p:cNvPicPr>
            <a:picLocks noChangeAspect="1"/>
          </p:cNvPicPr>
          <p:nvPr/>
        </p:nvPicPr>
        <p:blipFill>
          <a:blip r:embed="rId5"/>
          <a:stretch>
            <a:fillRect/>
          </a:stretch>
        </p:blipFill>
        <p:spPr>
          <a:xfrm>
            <a:off x="943661" y="4253789"/>
            <a:ext cx="261518" cy="261518"/>
          </a:xfrm>
          <a:prstGeom prst="rect">
            <a:avLst/>
          </a:prstGeom>
        </p:spPr>
      </p:pic>
      <p:sp>
        <p:nvSpPr>
          <p:cNvPr id="27" name="Text 20"/>
          <p:cNvSpPr txBox="1"/>
          <p:nvPr/>
        </p:nvSpPr>
        <p:spPr>
          <a:xfrm>
            <a:off x="822960" y="4773168"/>
            <a:ext cx="2148840" cy="320040"/>
          </a:xfrm>
          <a:prstGeom prst="rect">
            <a:avLst/>
          </a:prstGeom>
          <a:noFill/>
          <a:ln/>
        </p:spPr>
        <p:txBody>
          <a:bodyPr wrap="square" lIns="0" tIns="0" rIns="0" bIns="0" rtlCol="0" anchor="t"/>
          <a:lstStyle/>
          <a:p>
            <a:pPr indent="0" marL="0">
              <a:buNone/>
            </a:pPr>
            <a:r>
              <a:rPr lang="en-US" sz="1500" b="1" dirty="0">
                <a:solidFill>
                  <a:schemeClr val="tx1"/>
                </a:solidFill>
              </a:rPr>
              <a:t>Payments</a:t>
            </a:r>
            <a:endParaRPr lang="en-US" sz="1500" dirty="0"/>
          </a:p>
        </p:txBody>
      </p:sp>
      <p:sp>
        <p:nvSpPr>
          <p:cNvPr id="28" name="Text 21"/>
          <p:cNvSpPr txBox="1"/>
          <p:nvPr/>
        </p:nvSpPr>
        <p:spPr>
          <a:xfrm>
            <a:off x="822960" y="5120640"/>
            <a:ext cx="2194560" cy="822960"/>
          </a:xfrm>
          <a:prstGeom prst="rect">
            <a:avLst/>
          </a:prstGeom>
          <a:noFill/>
          <a:ln/>
        </p:spPr>
        <p:txBody>
          <a:bodyPr wrap="square" lIns="0" tIns="0" rIns="0" bIns="0" rtlCol="0" anchor="t"/>
          <a:lstStyle/>
          <a:p>
            <a:pPr indent="0" marL="0">
              <a:buNone/>
            </a:pPr>
            <a:r>
              <a:rPr lang="en-US" sz="1200" dirty="0">
                <a:solidFill>
                  <a:schemeClr val="tx2"/>
                </a:solidFill>
              </a:rPr>
              <a:t>Razorpay Test Mode</a:t>
            </a:r>
            <a:endParaRPr lang="en-US" sz="1200" dirty="0"/>
          </a:p>
          <a:p>
            <a:pPr indent="0" marL="0">
              <a:buNone/>
            </a:pPr>
            <a:r>
              <a:rPr lang="en-US" sz="1200" dirty="0">
                <a:solidFill>
                  <a:schemeClr val="tx2"/>
                </a:solidFill>
              </a:rPr>
              <a:t>HMAC-verified checkout &amp; webhooks</a:t>
            </a:r>
            <a:endParaRPr lang="en-US" sz="1200" dirty="0"/>
          </a:p>
        </p:txBody>
      </p:sp>
      <p:sp>
        <p:nvSpPr>
          <p:cNvPr id="29" name="card"/>
          <p:cNvSpPr/>
          <p:nvPr/>
        </p:nvSpPr>
        <p:spPr>
          <a:xfrm>
            <a:off x="3355848" y="3858768"/>
            <a:ext cx="2606040" cy="2194560"/>
          </a:xfrm>
          <a:prstGeom prst="roundRect">
            <a:avLst>
              <a:gd name="adj" fmla="val 4167"/>
            </a:avLst>
          </a:prstGeom>
          <a:solidFill>
            <a:schemeClr val="bg2"/>
          </a:solidFill>
          <a:ln w="9525">
            <a:solidFill>
              <a:schemeClr val="bg2"/>
            </a:solidFill>
            <a:prstDash val="solid"/>
          </a:ln>
        </p:spPr>
      </p:sp>
      <p:sp>
        <p:nvSpPr>
          <p:cNvPr id="30" name="icon-circle"/>
          <p:cNvSpPr/>
          <p:nvPr/>
        </p:nvSpPr>
        <p:spPr>
          <a:xfrm>
            <a:off x="3630168" y="4133088"/>
            <a:ext cx="502920" cy="502920"/>
          </a:xfrm>
          <a:prstGeom prst="ellipse">
            <a:avLst/>
          </a:prstGeom>
          <a:solidFill>
            <a:schemeClr val="accent1"/>
          </a:solidFill>
          <a:ln w="12700">
            <a:solidFill>
              <a:schemeClr val="accent1"/>
            </a:solidFill>
            <a:prstDash val="solid"/>
          </a:ln>
        </p:spPr>
      </p:sp>
      <p:pic>
        <p:nvPicPr>
          <p:cNvPr id="31" name="Image 5" descr="LuQrCode">    </p:cNvPr>
          <p:cNvPicPr>
            <a:picLocks noChangeAspect="1"/>
          </p:cNvPicPr>
          <p:nvPr/>
        </p:nvPicPr>
        <p:blipFill>
          <a:blip r:embed="rId6"/>
          <a:stretch>
            <a:fillRect/>
          </a:stretch>
        </p:blipFill>
        <p:spPr>
          <a:xfrm>
            <a:off x="3750869" y="4253789"/>
            <a:ext cx="261518" cy="261518"/>
          </a:xfrm>
          <a:prstGeom prst="rect">
            <a:avLst/>
          </a:prstGeom>
        </p:spPr>
      </p:pic>
      <p:sp>
        <p:nvSpPr>
          <p:cNvPr id="32" name="Text 24"/>
          <p:cNvSpPr txBox="1"/>
          <p:nvPr/>
        </p:nvSpPr>
        <p:spPr>
          <a:xfrm>
            <a:off x="3630168" y="4773168"/>
            <a:ext cx="2148840" cy="320040"/>
          </a:xfrm>
          <a:prstGeom prst="rect">
            <a:avLst/>
          </a:prstGeom>
          <a:noFill/>
          <a:ln/>
        </p:spPr>
        <p:txBody>
          <a:bodyPr wrap="square" lIns="0" tIns="0" rIns="0" bIns="0" rtlCol="0" anchor="t"/>
          <a:lstStyle/>
          <a:p>
            <a:pPr indent="0" marL="0">
              <a:buNone/>
            </a:pPr>
            <a:r>
              <a:rPr lang="en-US" sz="1500" b="1" dirty="0">
                <a:solidFill>
                  <a:schemeClr val="tx1"/>
                </a:solidFill>
              </a:rPr>
              <a:t>Tickets</a:t>
            </a:r>
            <a:endParaRPr lang="en-US" sz="1500" dirty="0"/>
          </a:p>
        </p:txBody>
      </p:sp>
      <p:sp>
        <p:nvSpPr>
          <p:cNvPr id="33" name="Text 25"/>
          <p:cNvSpPr txBox="1"/>
          <p:nvPr/>
        </p:nvSpPr>
        <p:spPr>
          <a:xfrm>
            <a:off x="3630168" y="5120640"/>
            <a:ext cx="2194560" cy="822960"/>
          </a:xfrm>
          <a:prstGeom prst="rect">
            <a:avLst/>
          </a:prstGeom>
          <a:noFill/>
          <a:ln/>
        </p:spPr>
        <p:txBody>
          <a:bodyPr wrap="square" lIns="0" tIns="0" rIns="0" bIns="0" rtlCol="0" anchor="t"/>
          <a:lstStyle/>
          <a:p>
            <a:pPr indent="0" marL="0">
              <a:buNone/>
            </a:pPr>
            <a:r>
              <a:rPr lang="en-US" sz="1200" dirty="0">
                <a:solidFill>
                  <a:schemeClr val="tx2"/>
                </a:solidFill>
              </a:rPr>
              <a:t>qrcode · pdf-lib</a:t>
            </a:r>
            <a:endParaRPr lang="en-US" sz="1200" dirty="0"/>
          </a:p>
          <a:p>
            <a:pPr indent="0" marL="0">
              <a:buNone/>
            </a:pPr>
            <a:r>
              <a:rPr lang="en-US" sz="1200" dirty="0">
                <a:solidFill>
                  <a:schemeClr val="tx2"/>
                </a:solidFill>
              </a:rPr>
              <a:t>html5-qrcode scanner · sharp</a:t>
            </a:r>
            <a:endParaRPr lang="en-US" sz="1200" dirty="0"/>
          </a:p>
        </p:txBody>
      </p:sp>
      <p:sp>
        <p:nvSpPr>
          <p:cNvPr id="34" name="card"/>
          <p:cNvSpPr/>
          <p:nvPr/>
        </p:nvSpPr>
        <p:spPr>
          <a:xfrm>
            <a:off x="6163056" y="3858768"/>
            <a:ext cx="2606040" cy="2194560"/>
          </a:xfrm>
          <a:prstGeom prst="roundRect">
            <a:avLst>
              <a:gd name="adj" fmla="val 4167"/>
            </a:avLst>
          </a:prstGeom>
          <a:solidFill>
            <a:schemeClr val="bg2"/>
          </a:solidFill>
          <a:ln w="9525">
            <a:solidFill>
              <a:schemeClr val="bg2"/>
            </a:solidFill>
            <a:prstDash val="solid"/>
          </a:ln>
        </p:spPr>
      </p:sp>
      <p:sp>
        <p:nvSpPr>
          <p:cNvPr id="35" name="icon-circle"/>
          <p:cNvSpPr/>
          <p:nvPr/>
        </p:nvSpPr>
        <p:spPr>
          <a:xfrm>
            <a:off x="6437376" y="4133088"/>
            <a:ext cx="502920" cy="502920"/>
          </a:xfrm>
          <a:prstGeom prst="ellipse">
            <a:avLst/>
          </a:prstGeom>
          <a:solidFill>
            <a:schemeClr val="accent1"/>
          </a:solidFill>
          <a:ln w="12700">
            <a:solidFill>
              <a:schemeClr val="accent1"/>
            </a:solidFill>
            <a:prstDash val="solid"/>
          </a:ln>
        </p:spPr>
      </p:sp>
      <p:pic>
        <p:nvPicPr>
          <p:cNvPr id="36" name="Image 6" descr="LuFlaskConical">    </p:cNvPr>
          <p:cNvPicPr>
            <a:picLocks noChangeAspect="1"/>
          </p:cNvPicPr>
          <p:nvPr/>
        </p:nvPicPr>
        <p:blipFill>
          <a:blip r:embed="rId7"/>
          <a:stretch>
            <a:fillRect/>
          </a:stretch>
        </p:blipFill>
        <p:spPr>
          <a:xfrm>
            <a:off x="6558077" y="4253789"/>
            <a:ext cx="261518" cy="261518"/>
          </a:xfrm>
          <a:prstGeom prst="rect">
            <a:avLst/>
          </a:prstGeom>
        </p:spPr>
      </p:pic>
      <p:sp>
        <p:nvSpPr>
          <p:cNvPr id="37" name="Text 28"/>
          <p:cNvSpPr txBox="1"/>
          <p:nvPr/>
        </p:nvSpPr>
        <p:spPr>
          <a:xfrm>
            <a:off x="6437376" y="4773168"/>
            <a:ext cx="2148840" cy="320040"/>
          </a:xfrm>
          <a:prstGeom prst="rect">
            <a:avLst/>
          </a:prstGeom>
          <a:noFill/>
          <a:ln/>
        </p:spPr>
        <p:txBody>
          <a:bodyPr wrap="square" lIns="0" tIns="0" rIns="0" bIns="0" rtlCol="0" anchor="t"/>
          <a:lstStyle/>
          <a:p>
            <a:pPr indent="0" marL="0">
              <a:buNone/>
            </a:pPr>
            <a:r>
              <a:rPr lang="en-US" sz="1500" b="1" dirty="0">
                <a:solidFill>
                  <a:schemeClr val="tx1"/>
                </a:solidFill>
              </a:rPr>
              <a:t>Testing</a:t>
            </a:r>
            <a:endParaRPr lang="en-US" sz="1500" dirty="0"/>
          </a:p>
        </p:txBody>
      </p:sp>
      <p:sp>
        <p:nvSpPr>
          <p:cNvPr id="38" name="Text 29"/>
          <p:cNvSpPr txBox="1"/>
          <p:nvPr/>
        </p:nvSpPr>
        <p:spPr>
          <a:xfrm>
            <a:off x="6437376" y="5120640"/>
            <a:ext cx="2194560" cy="822960"/>
          </a:xfrm>
          <a:prstGeom prst="rect">
            <a:avLst/>
          </a:prstGeom>
          <a:noFill/>
          <a:ln/>
        </p:spPr>
        <p:txBody>
          <a:bodyPr wrap="square" lIns="0" tIns="0" rIns="0" bIns="0" rtlCol="0" anchor="t"/>
          <a:lstStyle/>
          <a:p>
            <a:pPr indent="0" marL="0">
              <a:buNone/>
            </a:pPr>
            <a:r>
              <a:rPr lang="en-US" sz="1200" dirty="0">
                <a:solidFill>
                  <a:schemeClr val="tx2"/>
                </a:solidFill>
              </a:rPr>
              <a:t>Vitest (unit, integration)</a:t>
            </a:r>
            <a:endParaRPr lang="en-US" sz="1200" dirty="0"/>
          </a:p>
          <a:p>
            <a:pPr indent="0" marL="0">
              <a:buNone/>
            </a:pPr>
            <a:r>
              <a:rPr lang="en-US" sz="1200" dirty="0">
                <a:solidFill>
                  <a:schemeClr val="tx2"/>
                </a:solidFill>
              </a:rPr>
              <a:t>Playwright (end-to-end)</a:t>
            </a:r>
            <a:endParaRPr lang="en-US" sz="1200" dirty="0"/>
          </a:p>
        </p:txBody>
      </p:sp>
      <p:sp>
        <p:nvSpPr>
          <p:cNvPr id="39" name="card"/>
          <p:cNvSpPr/>
          <p:nvPr/>
        </p:nvSpPr>
        <p:spPr>
          <a:xfrm>
            <a:off x="8970264" y="3858768"/>
            <a:ext cx="2606040" cy="2194560"/>
          </a:xfrm>
          <a:prstGeom prst="roundRect">
            <a:avLst>
              <a:gd name="adj" fmla="val 4167"/>
            </a:avLst>
          </a:prstGeom>
          <a:solidFill>
            <a:schemeClr val="bg2"/>
          </a:solidFill>
          <a:ln w="9525">
            <a:solidFill>
              <a:schemeClr val="bg2"/>
            </a:solidFill>
            <a:prstDash val="solid"/>
          </a:ln>
        </p:spPr>
      </p:sp>
      <p:sp>
        <p:nvSpPr>
          <p:cNvPr id="40" name="icon-circle"/>
          <p:cNvSpPr/>
          <p:nvPr/>
        </p:nvSpPr>
        <p:spPr>
          <a:xfrm>
            <a:off x="9244584" y="4133088"/>
            <a:ext cx="502920" cy="502920"/>
          </a:xfrm>
          <a:prstGeom prst="ellipse">
            <a:avLst/>
          </a:prstGeom>
          <a:solidFill>
            <a:schemeClr val="accent1"/>
          </a:solidFill>
          <a:ln w="12700">
            <a:solidFill>
              <a:schemeClr val="accent1"/>
            </a:solidFill>
            <a:prstDash val="solid"/>
          </a:ln>
        </p:spPr>
      </p:sp>
      <p:pic>
        <p:nvPicPr>
          <p:cNvPr id="41" name="Image 7" descr="LuCloud">    </p:cNvPr>
          <p:cNvPicPr>
            <a:picLocks noChangeAspect="1"/>
          </p:cNvPicPr>
          <p:nvPr/>
        </p:nvPicPr>
        <p:blipFill>
          <a:blip r:embed="rId8"/>
          <a:stretch>
            <a:fillRect/>
          </a:stretch>
        </p:blipFill>
        <p:spPr>
          <a:xfrm>
            <a:off x="9365285" y="4253789"/>
            <a:ext cx="261518" cy="261518"/>
          </a:xfrm>
          <a:prstGeom prst="rect">
            <a:avLst/>
          </a:prstGeom>
        </p:spPr>
      </p:pic>
      <p:sp>
        <p:nvSpPr>
          <p:cNvPr id="42" name="Text 32"/>
          <p:cNvSpPr txBox="1"/>
          <p:nvPr/>
        </p:nvSpPr>
        <p:spPr>
          <a:xfrm>
            <a:off x="9244584" y="4773168"/>
            <a:ext cx="2148840" cy="320040"/>
          </a:xfrm>
          <a:prstGeom prst="rect">
            <a:avLst/>
          </a:prstGeom>
          <a:noFill/>
          <a:ln/>
        </p:spPr>
        <p:txBody>
          <a:bodyPr wrap="square" lIns="0" tIns="0" rIns="0" bIns="0" rtlCol="0" anchor="t"/>
          <a:lstStyle/>
          <a:p>
            <a:pPr indent="0" marL="0">
              <a:buNone/>
            </a:pPr>
            <a:r>
              <a:rPr lang="en-US" sz="1500" b="1" dirty="0">
                <a:solidFill>
                  <a:schemeClr val="tx1"/>
                </a:solidFill>
              </a:rPr>
              <a:t>Hosting</a:t>
            </a:r>
            <a:endParaRPr lang="en-US" sz="1500" dirty="0"/>
          </a:p>
        </p:txBody>
      </p:sp>
      <p:sp>
        <p:nvSpPr>
          <p:cNvPr id="43" name="Text 33"/>
          <p:cNvSpPr txBox="1"/>
          <p:nvPr/>
        </p:nvSpPr>
        <p:spPr>
          <a:xfrm>
            <a:off x="9244584" y="5120640"/>
            <a:ext cx="2194560" cy="822960"/>
          </a:xfrm>
          <a:prstGeom prst="rect">
            <a:avLst/>
          </a:prstGeom>
          <a:noFill/>
          <a:ln/>
        </p:spPr>
        <p:txBody>
          <a:bodyPr wrap="square" lIns="0" tIns="0" rIns="0" bIns="0" rtlCol="0" anchor="t"/>
          <a:lstStyle/>
          <a:p>
            <a:pPr indent="0" marL="0">
              <a:buNone/>
            </a:pPr>
            <a:r>
              <a:rPr lang="en-US" sz="1200" dirty="0">
                <a:solidFill>
                  <a:schemeClr val="tx2"/>
                </a:solidFill>
              </a:rPr>
              <a:t>Vercel · eventdeck.online</a:t>
            </a:r>
            <a:endParaRPr lang="en-US" sz="1200" dirty="0"/>
          </a:p>
          <a:p>
            <a:pPr indent="0" marL="0">
              <a:buNone/>
            </a:pPr>
            <a:r>
              <a:rPr lang="en-US" sz="1200" dirty="0">
                <a:solidFill>
                  <a:schemeClr val="tx2"/>
                </a:solidFill>
              </a:rPr>
              <a:t>Vercel Cron for hold expiry</a:t>
            </a:r>
            <a:endParaRPr lang="en-US" sz="12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MODULES &amp; USER ROLES</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One account, responsibilities that change with context</a:t>
            </a:r>
            <a:endParaRPr lang="en-US" sz="3000" dirty="0"/>
          </a:p>
        </p:txBody>
      </p:sp>
      <p:sp>
        <p:nvSpPr>
          <p:cNvPr id="4" name="card"/>
          <p:cNvSpPr/>
          <p:nvPr/>
        </p:nvSpPr>
        <p:spPr>
          <a:xfrm>
            <a:off x="548640" y="1463040"/>
            <a:ext cx="2606040" cy="3383280"/>
          </a:xfrm>
          <a:prstGeom prst="roundRect">
            <a:avLst>
              <a:gd name="adj" fmla="val 3509"/>
            </a:avLst>
          </a:prstGeom>
          <a:solidFill>
            <a:schemeClr val="bg2"/>
          </a:solidFill>
          <a:ln w="9525">
            <a:solidFill>
              <a:schemeClr val="bg2"/>
            </a:solidFill>
            <a:prstDash val="solid"/>
          </a:ln>
        </p:spPr>
      </p:sp>
      <p:sp>
        <p:nvSpPr>
          <p:cNvPr id="5" name="icon-circle"/>
          <p:cNvSpPr/>
          <p:nvPr/>
        </p:nvSpPr>
        <p:spPr>
          <a:xfrm>
            <a:off x="822960" y="1737360"/>
            <a:ext cx="548640" cy="548640"/>
          </a:xfrm>
          <a:prstGeom prst="ellipse">
            <a:avLst/>
          </a:prstGeom>
          <a:solidFill>
            <a:schemeClr val="accent1"/>
          </a:solidFill>
          <a:ln w="12700">
            <a:solidFill>
              <a:schemeClr val="accent1"/>
            </a:solidFill>
            <a:prstDash val="solid"/>
          </a:ln>
        </p:spPr>
      </p:sp>
      <p:pic>
        <p:nvPicPr>
          <p:cNvPr id="6" name="Image 0" descr="LuTicket">    </p:cNvPr>
          <p:cNvPicPr>
            <a:picLocks noChangeAspect="1"/>
          </p:cNvPicPr>
          <p:nvPr/>
        </p:nvPicPr>
        <p:blipFill>
          <a:blip r:embed="rId1"/>
          <a:stretch>
            <a:fillRect/>
          </a:stretch>
        </p:blipFill>
        <p:spPr>
          <a:xfrm>
            <a:off x="954634" y="1869034"/>
            <a:ext cx="285293" cy="285293"/>
          </a:xfrm>
          <a:prstGeom prst="rect">
            <a:avLst/>
          </a:prstGeom>
        </p:spPr>
      </p:pic>
      <p:sp>
        <p:nvSpPr>
          <p:cNvPr id="7" name="Text 4"/>
          <p:cNvSpPr txBox="1"/>
          <p:nvPr/>
        </p:nvSpPr>
        <p:spPr>
          <a:xfrm>
            <a:off x="822960" y="2468880"/>
            <a:ext cx="2148840" cy="365760"/>
          </a:xfrm>
          <a:prstGeom prst="rect">
            <a:avLst/>
          </a:prstGeom>
          <a:noFill/>
          <a:ln/>
        </p:spPr>
        <p:txBody>
          <a:bodyPr wrap="square" lIns="0" tIns="0" rIns="0" bIns="0" rtlCol="0" anchor="t"/>
          <a:lstStyle/>
          <a:p>
            <a:pPr indent="0" marL="0">
              <a:buNone/>
            </a:pPr>
            <a:r>
              <a:rPr lang="en-US" sz="1700" b="1" dirty="0">
                <a:solidFill>
                  <a:schemeClr val="tx1"/>
                </a:solidFill>
              </a:rPr>
              <a:t>Participant</a:t>
            </a:r>
            <a:endParaRPr lang="en-US" sz="1700" dirty="0"/>
          </a:p>
        </p:txBody>
      </p:sp>
      <p:sp>
        <p:nvSpPr>
          <p:cNvPr id="8" name="Text 5"/>
          <p:cNvSpPr txBox="1"/>
          <p:nvPr/>
        </p:nvSpPr>
        <p:spPr>
          <a:xfrm>
            <a:off x="822960" y="2880360"/>
            <a:ext cx="2148840" cy="1920240"/>
          </a:xfrm>
          <a:prstGeom prst="rect">
            <a:avLst/>
          </a:prstGeom>
          <a:noFill/>
          <a:ln/>
        </p:spPr>
        <p:txBody>
          <a:bodyPr wrap="square" lIns="0" tIns="0" rIns="0" bIns="0" rtlCol="0" anchor="t"/>
          <a:lstStyle/>
          <a:p>
            <a:pPr indent="0" marL="0">
              <a:buNone/>
            </a:pPr>
            <a:r>
              <a:rPr lang="en-US" sz="1300" dirty="0">
                <a:solidFill>
                  <a:schemeClr val="tx2"/>
                </a:solidFill>
              </a:rPr>
              <a:t>Discovers and searches events, books free or paid tickets or a pass, pays, downloads QR tickets and PDF passes, applies to become an organizer.</a:t>
            </a:r>
            <a:endParaRPr lang="en-US" sz="1300" dirty="0"/>
          </a:p>
        </p:txBody>
      </p:sp>
      <p:sp>
        <p:nvSpPr>
          <p:cNvPr id="9" name="card"/>
          <p:cNvSpPr/>
          <p:nvPr/>
        </p:nvSpPr>
        <p:spPr>
          <a:xfrm>
            <a:off x="3355848" y="1463040"/>
            <a:ext cx="2606040" cy="3383280"/>
          </a:xfrm>
          <a:prstGeom prst="roundRect">
            <a:avLst>
              <a:gd name="adj" fmla="val 3509"/>
            </a:avLst>
          </a:prstGeom>
          <a:solidFill>
            <a:schemeClr val="bg2"/>
          </a:solidFill>
          <a:ln w="9525">
            <a:solidFill>
              <a:schemeClr val="bg2"/>
            </a:solidFill>
            <a:prstDash val="solid"/>
          </a:ln>
        </p:spPr>
      </p:sp>
      <p:sp>
        <p:nvSpPr>
          <p:cNvPr id="10" name="icon-circle"/>
          <p:cNvSpPr/>
          <p:nvPr/>
        </p:nvSpPr>
        <p:spPr>
          <a:xfrm>
            <a:off x="3630168" y="1737360"/>
            <a:ext cx="548640" cy="548640"/>
          </a:xfrm>
          <a:prstGeom prst="ellipse">
            <a:avLst/>
          </a:prstGeom>
          <a:solidFill>
            <a:schemeClr val="accent1"/>
          </a:solidFill>
          <a:ln w="12700">
            <a:solidFill>
              <a:schemeClr val="accent1"/>
            </a:solidFill>
            <a:prstDash val="solid"/>
          </a:ln>
        </p:spPr>
      </p:sp>
      <p:pic>
        <p:nvPicPr>
          <p:cNvPr id="11" name="Image 1" descr="LuCalendarCog">    </p:cNvPr>
          <p:cNvPicPr>
            <a:picLocks noChangeAspect="1"/>
          </p:cNvPicPr>
          <p:nvPr/>
        </p:nvPicPr>
        <p:blipFill>
          <a:blip r:embed="rId2"/>
          <a:stretch>
            <a:fillRect/>
          </a:stretch>
        </p:blipFill>
        <p:spPr>
          <a:xfrm>
            <a:off x="3761842" y="1869034"/>
            <a:ext cx="285293" cy="285293"/>
          </a:xfrm>
          <a:prstGeom prst="rect">
            <a:avLst/>
          </a:prstGeom>
        </p:spPr>
      </p:pic>
      <p:sp>
        <p:nvSpPr>
          <p:cNvPr id="12" name="Text 8"/>
          <p:cNvSpPr txBox="1"/>
          <p:nvPr/>
        </p:nvSpPr>
        <p:spPr>
          <a:xfrm>
            <a:off x="3630168" y="2468880"/>
            <a:ext cx="2148840" cy="365760"/>
          </a:xfrm>
          <a:prstGeom prst="rect">
            <a:avLst/>
          </a:prstGeom>
          <a:noFill/>
          <a:ln/>
        </p:spPr>
        <p:txBody>
          <a:bodyPr wrap="square" lIns="0" tIns="0" rIns="0" bIns="0" rtlCol="0" anchor="t"/>
          <a:lstStyle/>
          <a:p>
            <a:pPr indent="0" marL="0">
              <a:buNone/>
            </a:pPr>
            <a:r>
              <a:rPr lang="en-US" sz="1700" b="1" dirty="0">
                <a:solidFill>
                  <a:schemeClr val="tx1"/>
                </a:solidFill>
              </a:rPr>
              <a:t>Organizer</a:t>
            </a:r>
            <a:endParaRPr lang="en-US" sz="1700" dirty="0"/>
          </a:p>
        </p:txBody>
      </p:sp>
      <p:sp>
        <p:nvSpPr>
          <p:cNvPr id="13" name="Text 9"/>
          <p:cNvSpPr txBox="1"/>
          <p:nvPr/>
        </p:nvSpPr>
        <p:spPr>
          <a:xfrm>
            <a:off x="3630168" y="2880360"/>
            <a:ext cx="2148840" cy="1920240"/>
          </a:xfrm>
          <a:prstGeom prst="rect">
            <a:avLst/>
          </a:prstGeom>
          <a:noFill/>
          <a:ln/>
        </p:spPr>
        <p:txBody>
          <a:bodyPr wrap="square" lIns="0" tIns="0" rIns="0" bIns="0" rtlCol="0" anchor="t"/>
          <a:lstStyle/>
          <a:p>
            <a:pPr indent="0" marL="0">
              <a:buNone/>
            </a:pPr>
            <a:r>
              <a:rPr lang="en-US" sz="1300" dirty="0">
                <a:solidFill>
                  <a:schemeClr val="tx2"/>
                </a:solidFill>
              </a:rPr>
              <a:t>Creates and publishes events with tiers, windows and audience rules; reviews pass requests; appoints moderators; scans; views bookings and attendance; requests payouts.</a:t>
            </a:r>
            <a:endParaRPr lang="en-US" sz="1300" dirty="0"/>
          </a:p>
        </p:txBody>
      </p:sp>
      <p:sp>
        <p:nvSpPr>
          <p:cNvPr id="14" name="card"/>
          <p:cNvSpPr/>
          <p:nvPr/>
        </p:nvSpPr>
        <p:spPr>
          <a:xfrm>
            <a:off x="6163056" y="1463040"/>
            <a:ext cx="2606040" cy="3383280"/>
          </a:xfrm>
          <a:prstGeom prst="roundRect">
            <a:avLst>
              <a:gd name="adj" fmla="val 3509"/>
            </a:avLst>
          </a:prstGeom>
          <a:solidFill>
            <a:schemeClr val="tx1"/>
          </a:solidFill>
          <a:ln w="9525">
            <a:solidFill>
              <a:schemeClr val="tx1"/>
            </a:solidFill>
            <a:prstDash val="solid"/>
          </a:ln>
        </p:spPr>
      </p:sp>
      <p:sp>
        <p:nvSpPr>
          <p:cNvPr id="15" name="icon-circle"/>
          <p:cNvSpPr/>
          <p:nvPr/>
        </p:nvSpPr>
        <p:spPr>
          <a:xfrm>
            <a:off x="6437376" y="1737360"/>
            <a:ext cx="548640" cy="548640"/>
          </a:xfrm>
          <a:prstGeom prst="ellipse">
            <a:avLst/>
          </a:prstGeom>
          <a:solidFill>
            <a:schemeClr val="accent1"/>
          </a:solidFill>
          <a:ln w="12700">
            <a:solidFill>
              <a:schemeClr val="accent1"/>
            </a:solidFill>
            <a:prstDash val="solid"/>
          </a:ln>
        </p:spPr>
      </p:sp>
      <p:pic>
        <p:nvPicPr>
          <p:cNvPr id="16" name="Image 2" descr="LuScanLine">    </p:cNvPr>
          <p:cNvPicPr>
            <a:picLocks noChangeAspect="1"/>
          </p:cNvPicPr>
          <p:nvPr/>
        </p:nvPicPr>
        <p:blipFill>
          <a:blip r:embed="rId3"/>
          <a:stretch>
            <a:fillRect/>
          </a:stretch>
        </p:blipFill>
        <p:spPr>
          <a:xfrm>
            <a:off x="6569050" y="1869034"/>
            <a:ext cx="285293" cy="285293"/>
          </a:xfrm>
          <a:prstGeom prst="rect">
            <a:avLst/>
          </a:prstGeom>
        </p:spPr>
      </p:pic>
      <p:sp>
        <p:nvSpPr>
          <p:cNvPr id="17" name="Text 12"/>
          <p:cNvSpPr txBox="1"/>
          <p:nvPr/>
        </p:nvSpPr>
        <p:spPr>
          <a:xfrm>
            <a:off x="6437376" y="2468880"/>
            <a:ext cx="2148840" cy="365760"/>
          </a:xfrm>
          <a:prstGeom prst="rect">
            <a:avLst/>
          </a:prstGeom>
          <a:noFill/>
          <a:ln/>
        </p:spPr>
        <p:txBody>
          <a:bodyPr wrap="square" lIns="0" tIns="0" rIns="0" bIns="0" rtlCol="0" anchor="t"/>
          <a:lstStyle/>
          <a:p>
            <a:pPr indent="0" marL="0">
              <a:buNone/>
            </a:pPr>
            <a:r>
              <a:rPr lang="en-US" sz="1700" b="1" dirty="0">
                <a:solidFill>
                  <a:schemeClr val="bg1"/>
                </a:solidFill>
              </a:rPr>
              <a:t>Event moderator</a:t>
            </a:r>
            <a:endParaRPr lang="en-US" sz="1700" dirty="0"/>
          </a:p>
        </p:txBody>
      </p:sp>
      <p:sp>
        <p:nvSpPr>
          <p:cNvPr id="18" name="Text 13"/>
          <p:cNvSpPr txBox="1"/>
          <p:nvPr/>
        </p:nvSpPr>
        <p:spPr>
          <a:xfrm>
            <a:off x="6437376" y="2880360"/>
            <a:ext cx="2148840" cy="1920240"/>
          </a:xfrm>
          <a:prstGeom prst="rect">
            <a:avLst/>
          </a:prstGeom>
          <a:noFill/>
          <a:ln/>
        </p:spPr>
        <p:txBody>
          <a:bodyPr wrap="square" lIns="0" tIns="0" rIns="0" bIns="0" rtlCol="0" anchor="t"/>
          <a:lstStyle/>
          <a:p>
            <a:pPr indent="0" marL="0">
              <a:buNone/>
            </a:pPr>
            <a:r>
              <a:rPr lang="en-US" sz="1300" dirty="0">
                <a:solidFill>
                  <a:schemeClr val="accent6"/>
                </a:solidFill>
              </a:rPr>
              <a:t>An ordinary account assigned to one event (up to 10 per event). Sees only the scanner for that event; checked on every scan.</a:t>
            </a:r>
            <a:endParaRPr lang="en-US" sz="1300" dirty="0"/>
          </a:p>
        </p:txBody>
      </p:sp>
      <p:sp>
        <p:nvSpPr>
          <p:cNvPr id="19" name="card"/>
          <p:cNvSpPr/>
          <p:nvPr/>
        </p:nvSpPr>
        <p:spPr>
          <a:xfrm>
            <a:off x="8970264" y="1463040"/>
            <a:ext cx="2606040" cy="3383280"/>
          </a:xfrm>
          <a:prstGeom prst="roundRect">
            <a:avLst>
              <a:gd name="adj" fmla="val 3509"/>
            </a:avLst>
          </a:prstGeom>
          <a:solidFill>
            <a:schemeClr val="bg2"/>
          </a:solidFill>
          <a:ln w="9525">
            <a:solidFill>
              <a:schemeClr val="bg2"/>
            </a:solidFill>
            <a:prstDash val="solid"/>
          </a:ln>
        </p:spPr>
      </p:sp>
      <p:sp>
        <p:nvSpPr>
          <p:cNvPr id="20" name="icon-circle"/>
          <p:cNvSpPr/>
          <p:nvPr/>
        </p:nvSpPr>
        <p:spPr>
          <a:xfrm>
            <a:off x="9244584" y="1737360"/>
            <a:ext cx="548640" cy="548640"/>
          </a:xfrm>
          <a:prstGeom prst="ellipse">
            <a:avLst/>
          </a:prstGeom>
          <a:solidFill>
            <a:schemeClr val="accent1"/>
          </a:solidFill>
          <a:ln w="12700">
            <a:solidFill>
              <a:schemeClr val="accent1"/>
            </a:solidFill>
            <a:prstDash val="solid"/>
          </a:ln>
        </p:spPr>
      </p:sp>
      <p:pic>
        <p:nvPicPr>
          <p:cNvPr id="21" name="Image 3" descr="LuShieldCheck">    </p:cNvPr>
          <p:cNvPicPr>
            <a:picLocks noChangeAspect="1"/>
          </p:cNvPicPr>
          <p:nvPr/>
        </p:nvPicPr>
        <p:blipFill>
          <a:blip r:embed="rId4"/>
          <a:stretch>
            <a:fillRect/>
          </a:stretch>
        </p:blipFill>
        <p:spPr>
          <a:xfrm>
            <a:off x="9376258" y="1869034"/>
            <a:ext cx="285293" cy="285293"/>
          </a:xfrm>
          <a:prstGeom prst="rect">
            <a:avLst/>
          </a:prstGeom>
        </p:spPr>
      </p:pic>
      <p:sp>
        <p:nvSpPr>
          <p:cNvPr id="22" name="Text 16"/>
          <p:cNvSpPr txBox="1"/>
          <p:nvPr/>
        </p:nvSpPr>
        <p:spPr>
          <a:xfrm>
            <a:off x="9244584" y="2468880"/>
            <a:ext cx="2148840" cy="365760"/>
          </a:xfrm>
          <a:prstGeom prst="rect">
            <a:avLst/>
          </a:prstGeom>
          <a:noFill/>
          <a:ln/>
        </p:spPr>
        <p:txBody>
          <a:bodyPr wrap="square" lIns="0" tIns="0" rIns="0" bIns="0" rtlCol="0" anchor="t"/>
          <a:lstStyle/>
          <a:p>
            <a:pPr indent="0" marL="0">
              <a:buNone/>
            </a:pPr>
            <a:r>
              <a:rPr lang="en-US" sz="1700" b="1" dirty="0">
                <a:solidFill>
                  <a:schemeClr val="tx1"/>
                </a:solidFill>
              </a:rPr>
              <a:t>Administrator</a:t>
            </a:r>
            <a:endParaRPr lang="en-US" sz="1700" dirty="0"/>
          </a:p>
        </p:txBody>
      </p:sp>
      <p:sp>
        <p:nvSpPr>
          <p:cNvPr id="23" name="Text 17"/>
          <p:cNvSpPr txBox="1"/>
          <p:nvPr/>
        </p:nvSpPr>
        <p:spPr>
          <a:xfrm>
            <a:off x="9244584" y="2880360"/>
            <a:ext cx="2148840" cy="1920240"/>
          </a:xfrm>
          <a:prstGeom prst="rect">
            <a:avLst/>
          </a:prstGeom>
          <a:noFill/>
          <a:ln/>
        </p:spPr>
        <p:txBody>
          <a:bodyPr wrap="square" lIns="0" tIns="0" rIns="0" bIns="0" rtlCol="0" anchor="t"/>
          <a:lstStyle/>
          <a:p>
            <a:pPr indent="0" marL="0">
              <a:buNone/>
            </a:pPr>
            <a:r>
              <a:rPr lang="en-US" sz="1300" dirty="0">
                <a:solidFill>
                  <a:schemeClr val="tx2"/>
                </a:solidFill>
              </a:rPr>
              <a:t>Approves organizers, cancellations and payouts; processes refunds; resolves payment exceptions; reads the audit log; exports reports.</a:t>
            </a:r>
            <a:endParaRPr lang="en-US" sz="1300" dirty="0"/>
          </a:p>
        </p:txBody>
      </p:sp>
      <p:sp>
        <p:nvSpPr>
          <p:cNvPr id="24" name="card"/>
          <p:cNvSpPr/>
          <p:nvPr/>
        </p:nvSpPr>
        <p:spPr>
          <a:xfrm>
            <a:off x="548640" y="5074920"/>
            <a:ext cx="11091672" cy="960120"/>
          </a:xfrm>
          <a:prstGeom prst="roundRect">
            <a:avLst>
              <a:gd name="adj" fmla="val 9524"/>
            </a:avLst>
          </a:prstGeom>
          <a:solidFill>
            <a:schemeClr val="bg1"/>
          </a:solidFill>
          <a:ln w="12700">
            <a:solidFill>
              <a:schemeClr val="accent6"/>
            </a:solidFill>
            <a:prstDash val="solid"/>
          </a:ln>
        </p:spPr>
      </p:sp>
      <p:sp>
        <p:nvSpPr>
          <p:cNvPr id="25" name="Text 19"/>
          <p:cNvSpPr txBox="1"/>
          <p:nvPr/>
        </p:nvSpPr>
        <p:spPr>
          <a:xfrm>
            <a:off x="822960" y="5120640"/>
            <a:ext cx="10607040" cy="868680"/>
          </a:xfrm>
          <a:prstGeom prst="rect">
            <a:avLst/>
          </a:prstGeom>
          <a:noFill/>
          <a:ln/>
        </p:spPr>
        <p:txBody>
          <a:bodyPr wrap="square" lIns="0" tIns="0" rIns="0" bIns="0" rtlCol="0" anchor="ctr"/>
          <a:lstStyle/>
          <a:p>
            <a:pPr indent="0" marL="0">
              <a:buNone/>
            </a:pPr>
            <a:r>
              <a:rPr lang="en-US" sz="1400" b="1" dirty="0">
                <a:solidFill>
                  <a:schemeClr val="tx2"/>
                </a:solidFill>
              </a:rPr>
              <a:t>Moderators are an assignment, not a role. </a:t>
            </a:r>
            <a:pPr indent="0" marL="0">
              <a:buNone/>
            </a:pPr>
            <a:r>
              <a:rPr lang="en-US" sz="1400" dirty="0">
                <a:solidFill>
                  <a:schemeClr val="tx2"/>
                </a:solidFill>
              </a:rPr>
              <a:t>A student who organizes one event can still book tickets for others and moderate a friend's event from the same account.</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DATABASE DESIGN</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17 tables, constraints and row-level security</a:t>
            </a:r>
            <a:endParaRPr lang="en-US" sz="3000" dirty="0"/>
          </a:p>
        </p:txBody>
      </p:sp>
      <p:sp>
        <p:nvSpPr>
          <p:cNvPr id="4" name="card"/>
          <p:cNvSpPr/>
          <p:nvPr/>
        </p:nvSpPr>
        <p:spPr>
          <a:xfrm>
            <a:off x="548640" y="1417320"/>
            <a:ext cx="6949440" cy="4800600"/>
          </a:xfrm>
          <a:prstGeom prst="roundRect">
            <a:avLst>
              <a:gd name="adj" fmla="val 1905"/>
            </a:avLst>
          </a:prstGeom>
          <a:solidFill>
            <a:schemeClr val="bg1"/>
          </a:solidFill>
          <a:ln w="12700">
            <a:solidFill>
              <a:schemeClr val="accent6"/>
            </a:solidFill>
            <a:prstDash val="solid"/>
          </a:ln>
        </p:spPr>
      </p:sp>
      <p:pic>
        <p:nvPicPr>
          <p:cNvPr id="5" name="Image 0" descr="Entity-relationship diagram of the principal EventDeck tables">    </p:cNvPr>
          <p:cNvPicPr>
            <a:picLocks noChangeAspect="1"/>
          </p:cNvPicPr>
          <p:nvPr/>
        </p:nvPicPr>
        <p:blipFill>
          <a:blip r:embed="rId1"/>
          <a:stretch>
            <a:fillRect/>
          </a:stretch>
        </p:blipFill>
        <p:spPr>
          <a:xfrm>
            <a:off x="658368" y="1691640"/>
            <a:ext cx="6729984" cy="4443984"/>
          </a:xfrm>
          <a:prstGeom prst="rect">
            <a:avLst/>
          </a:prstGeom>
        </p:spPr>
      </p:pic>
      <p:sp>
        <p:nvSpPr>
          <p:cNvPr id="6" name="icon-circle"/>
          <p:cNvSpPr/>
          <p:nvPr/>
        </p:nvSpPr>
        <p:spPr>
          <a:xfrm>
            <a:off x="7772400" y="1508760"/>
            <a:ext cx="438912" cy="438912"/>
          </a:xfrm>
          <a:prstGeom prst="ellipse">
            <a:avLst/>
          </a:prstGeom>
          <a:solidFill>
            <a:schemeClr val="accent1"/>
          </a:solidFill>
          <a:ln w="12700">
            <a:solidFill>
              <a:schemeClr val="accent1"/>
            </a:solidFill>
            <a:prstDash val="solid"/>
          </a:ln>
        </p:spPr>
      </p:sp>
      <p:pic>
        <p:nvPicPr>
          <p:cNvPr id="7" name="Image 1" descr="LuTable2">    </p:cNvPr>
          <p:cNvPicPr>
            <a:picLocks noChangeAspect="1"/>
          </p:cNvPicPr>
          <p:nvPr/>
        </p:nvPicPr>
        <p:blipFill>
          <a:blip r:embed="rId2"/>
          <a:stretch>
            <a:fillRect/>
          </a:stretch>
        </p:blipFill>
        <p:spPr>
          <a:xfrm>
            <a:off x="7877739" y="1614099"/>
            <a:ext cx="228234" cy="228234"/>
          </a:xfrm>
          <a:prstGeom prst="rect">
            <a:avLst/>
          </a:prstGeom>
        </p:spPr>
      </p:pic>
      <p:sp>
        <p:nvSpPr>
          <p:cNvPr id="8" name="Text 4"/>
          <p:cNvSpPr txBox="1"/>
          <p:nvPr/>
        </p:nvSpPr>
        <p:spPr>
          <a:xfrm>
            <a:off x="8366760" y="1463040"/>
            <a:ext cx="3246120" cy="274320"/>
          </a:xfrm>
          <a:prstGeom prst="rect">
            <a:avLst/>
          </a:prstGeom>
          <a:noFill/>
          <a:ln/>
        </p:spPr>
        <p:txBody>
          <a:bodyPr wrap="square" lIns="0" tIns="0" rIns="0" bIns="0" rtlCol="0" anchor="t"/>
          <a:lstStyle/>
          <a:p>
            <a:pPr indent="0" marL="0">
              <a:buNone/>
            </a:pPr>
            <a:r>
              <a:rPr lang="en-US" sz="1400" b="1" dirty="0">
                <a:solidFill>
                  <a:schemeClr val="tx1"/>
                </a:solidFill>
              </a:rPr>
              <a:t>Core chain</a:t>
            </a:r>
            <a:endParaRPr lang="en-US" sz="1400" dirty="0"/>
          </a:p>
        </p:txBody>
      </p:sp>
      <p:sp>
        <p:nvSpPr>
          <p:cNvPr id="9" name="Text 5"/>
          <p:cNvSpPr txBox="1"/>
          <p:nvPr/>
        </p:nvSpPr>
        <p:spPr>
          <a:xfrm>
            <a:off x="8366760" y="1755648"/>
            <a:ext cx="3246120" cy="868680"/>
          </a:xfrm>
          <a:prstGeom prst="rect">
            <a:avLst/>
          </a:prstGeom>
          <a:noFill/>
          <a:ln/>
        </p:spPr>
        <p:txBody>
          <a:bodyPr wrap="square" lIns="0" tIns="0" rIns="0" bIns="0" rtlCol="0" anchor="t"/>
          <a:lstStyle/>
          <a:p>
            <a:pPr indent="0" marL="0">
              <a:buNone/>
            </a:pPr>
            <a:r>
              <a:rPr lang="en-US" sz="1200" dirty="0">
                <a:solidFill>
                  <a:schemeClr val="tx2"/>
                </a:solidFill>
              </a:rPr>
              <a:t>profiles → events → ticket_tiers; bookings → booking_items, tickets → check_ins</a:t>
            </a:r>
            <a:endParaRPr lang="en-US" sz="1200" dirty="0"/>
          </a:p>
        </p:txBody>
      </p:sp>
      <p:sp>
        <p:nvSpPr>
          <p:cNvPr id="10" name="icon-circle"/>
          <p:cNvSpPr/>
          <p:nvPr/>
        </p:nvSpPr>
        <p:spPr>
          <a:xfrm>
            <a:off x="7772400" y="2697480"/>
            <a:ext cx="438912" cy="438912"/>
          </a:xfrm>
          <a:prstGeom prst="ellipse">
            <a:avLst/>
          </a:prstGeom>
          <a:solidFill>
            <a:schemeClr val="accent1"/>
          </a:solidFill>
          <a:ln w="12700">
            <a:solidFill>
              <a:schemeClr val="accent1"/>
            </a:solidFill>
            <a:prstDash val="solid"/>
          </a:ln>
        </p:spPr>
      </p:sp>
      <p:pic>
        <p:nvPicPr>
          <p:cNvPr id="11" name="Image 2" descr="LuListChecks">    </p:cNvPr>
          <p:cNvPicPr>
            <a:picLocks noChangeAspect="1"/>
          </p:cNvPicPr>
          <p:nvPr/>
        </p:nvPicPr>
        <p:blipFill>
          <a:blip r:embed="rId3"/>
          <a:stretch>
            <a:fillRect/>
          </a:stretch>
        </p:blipFill>
        <p:spPr>
          <a:xfrm>
            <a:off x="7877739" y="2802819"/>
            <a:ext cx="228234" cy="228234"/>
          </a:xfrm>
          <a:prstGeom prst="rect">
            <a:avLst/>
          </a:prstGeom>
        </p:spPr>
      </p:pic>
      <p:sp>
        <p:nvSpPr>
          <p:cNvPr id="12" name="Text 7"/>
          <p:cNvSpPr txBox="1"/>
          <p:nvPr/>
        </p:nvSpPr>
        <p:spPr>
          <a:xfrm>
            <a:off x="8366760" y="2651760"/>
            <a:ext cx="3246120" cy="274320"/>
          </a:xfrm>
          <a:prstGeom prst="rect">
            <a:avLst/>
          </a:prstGeom>
          <a:noFill/>
          <a:ln/>
        </p:spPr>
        <p:txBody>
          <a:bodyPr wrap="square" lIns="0" tIns="0" rIns="0" bIns="0" rtlCol="0" anchor="t"/>
          <a:lstStyle/>
          <a:p>
            <a:pPr indent="0" marL="0">
              <a:buNone/>
            </a:pPr>
            <a:r>
              <a:rPr lang="en-US" sz="1400" b="1" dirty="0">
                <a:solidFill>
                  <a:schemeClr val="tx1"/>
                </a:solidFill>
              </a:rPr>
              <a:t>Separate status fields</a:t>
            </a:r>
            <a:endParaRPr lang="en-US" sz="1400" dirty="0"/>
          </a:p>
        </p:txBody>
      </p:sp>
      <p:sp>
        <p:nvSpPr>
          <p:cNvPr id="13" name="Text 8"/>
          <p:cNvSpPr txBox="1"/>
          <p:nvPr/>
        </p:nvSpPr>
        <p:spPr>
          <a:xfrm>
            <a:off x="8366760" y="2944368"/>
            <a:ext cx="3246120" cy="868680"/>
          </a:xfrm>
          <a:prstGeom prst="rect">
            <a:avLst/>
          </a:prstGeom>
          <a:noFill/>
          <a:ln/>
        </p:spPr>
        <p:txBody>
          <a:bodyPr wrap="square" lIns="0" tIns="0" rIns="0" bIns="0" rtlCol="0" anchor="t"/>
          <a:lstStyle/>
          <a:p>
            <a:pPr indent="0" marL="0">
              <a:buNone/>
            </a:pPr>
            <a:r>
              <a:rPr lang="en-US" sz="1200" dirty="0">
                <a:solidFill>
                  <a:schemeClr val="tx2"/>
                </a:solidFill>
              </a:rPr>
              <a:t>Booking, payment, refund and ticket status are stored independently</a:t>
            </a:r>
            <a:endParaRPr lang="en-US" sz="1200" dirty="0"/>
          </a:p>
        </p:txBody>
      </p:sp>
      <p:sp>
        <p:nvSpPr>
          <p:cNvPr id="14" name="icon-circle"/>
          <p:cNvSpPr/>
          <p:nvPr/>
        </p:nvSpPr>
        <p:spPr>
          <a:xfrm>
            <a:off x="7772400" y="3886200"/>
            <a:ext cx="438912" cy="438912"/>
          </a:xfrm>
          <a:prstGeom prst="ellipse">
            <a:avLst/>
          </a:prstGeom>
          <a:solidFill>
            <a:schemeClr val="accent1"/>
          </a:solidFill>
          <a:ln w="12700">
            <a:solidFill>
              <a:schemeClr val="accent1"/>
            </a:solidFill>
            <a:prstDash val="solid"/>
          </a:ln>
        </p:spPr>
      </p:sp>
      <p:pic>
        <p:nvPicPr>
          <p:cNvPr id="15" name="Image 3" descr="LuLock">    </p:cNvPr>
          <p:cNvPicPr>
            <a:picLocks noChangeAspect="1"/>
          </p:cNvPicPr>
          <p:nvPr/>
        </p:nvPicPr>
        <p:blipFill>
          <a:blip r:embed="rId4"/>
          <a:stretch>
            <a:fillRect/>
          </a:stretch>
        </p:blipFill>
        <p:spPr>
          <a:xfrm>
            <a:off x="7877739" y="3991539"/>
            <a:ext cx="228234" cy="228234"/>
          </a:xfrm>
          <a:prstGeom prst="rect">
            <a:avLst/>
          </a:prstGeom>
        </p:spPr>
      </p:pic>
      <p:sp>
        <p:nvSpPr>
          <p:cNvPr id="16" name="Text 10"/>
          <p:cNvSpPr txBox="1"/>
          <p:nvPr/>
        </p:nvSpPr>
        <p:spPr>
          <a:xfrm>
            <a:off x="8366760" y="3840480"/>
            <a:ext cx="3246120" cy="274320"/>
          </a:xfrm>
          <a:prstGeom prst="rect">
            <a:avLst/>
          </a:prstGeom>
          <a:noFill/>
          <a:ln/>
        </p:spPr>
        <p:txBody>
          <a:bodyPr wrap="square" lIns="0" tIns="0" rIns="0" bIns="0" rtlCol="0" anchor="t"/>
          <a:lstStyle/>
          <a:p>
            <a:pPr indent="0" marL="0">
              <a:buNone/>
            </a:pPr>
            <a:r>
              <a:rPr lang="en-US" sz="1400" b="1" dirty="0">
                <a:solidFill>
                  <a:schemeClr val="tx1"/>
                </a:solidFill>
              </a:rPr>
              <a:t>Constraints as a safety net</a:t>
            </a:r>
            <a:endParaRPr lang="en-US" sz="1400" dirty="0"/>
          </a:p>
        </p:txBody>
      </p:sp>
      <p:sp>
        <p:nvSpPr>
          <p:cNvPr id="17" name="Text 11"/>
          <p:cNvSpPr txBox="1"/>
          <p:nvPr/>
        </p:nvSpPr>
        <p:spPr>
          <a:xfrm>
            <a:off x="8366760" y="4133088"/>
            <a:ext cx="3246120" cy="868680"/>
          </a:xfrm>
          <a:prstGeom prst="rect">
            <a:avLst/>
          </a:prstGeom>
          <a:noFill/>
          <a:ln/>
        </p:spPr>
        <p:txBody>
          <a:bodyPr wrap="square" lIns="0" tIns="0" rIns="0" bIns="0" rtlCol="0" anchor="t"/>
          <a:lstStyle/>
          <a:p>
            <a:pPr indent="0" marL="0">
              <a:buNone/>
            </a:pPr>
            <a:r>
              <a:rPr lang="en-US" sz="1200" dirty="0">
                <a:solidFill>
                  <a:schemeClr val="tx2"/>
                </a:solidFill>
              </a:rPr>
              <a:t>allocated ≤ capacity · 1–4 tickets per person · one check-in per ticket · unique idempotency key</a:t>
            </a:r>
            <a:endParaRPr lang="en-US" sz="1200" dirty="0"/>
          </a:p>
        </p:txBody>
      </p:sp>
      <p:sp>
        <p:nvSpPr>
          <p:cNvPr id="18" name="icon-circle"/>
          <p:cNvSpPr/>
          <p:nvPr/>
        </p:nvSpPr>
        <p:spPr>
          <a:xfrm>
            <a:off x="7772400" y="5074920"/>
            <a:ext cx="438912" cy="438912"/>
          </a:xfrm>
          <a:prstGeom prst="ellipse">
            <a:avLst/>
          </a:prstGeom>
          <a:solidFill>
            <a:schemeClr val="accent1"/>
          </a:solidFill>
          <a:ln w="12700">
            <a:solidFill>
              <a:schemeClr val="accent1"/>
            </a:solidFill>
            <a:prstDash val="solid"/>
          </a:ln>
        </p:spPr>
      </p:sp>
      <p:pic>
        <p:nvPicPr>
          <p:cNvPr id="19" name="Image 4" descr="LuShieldCheck">    </p:cNvPr>
          <p:cNvPicPr>
            <a:picLocks noChangeAspect="1"/>
          </p:cNvPicPr>
          <p:nvPr/>
        </p:nvPicPr>
        <p:blipFill>
          <a:blip r:embed="rId5"/>
          <a:stretch>
            <a:fillRect/>
          </a:stretch>
        </p:blipFill>
        <p:spPr>
          <a:xfrm>
            <a:off x="7877739" y="5180259"/>
            <a:ext cx="228234" cy="228234"/>
          </a:xfrm>
          <a:prstGeom prst="rect">
            <a:avLst/>
          </a:prstGeom>
        </p:spPr>
      </p:pic>
      <p:sp>
        <p:nvSpPr>
          <p:cNvPr id="20" name="Text 13"/>
          <p:cNvSpPr txBox="1"/>
          <p:nvPr/>
        </p:nvSpPr>
        <p:spPr>
          <a:xfrm>
            <a:off x="8366760" y="5029200"/>
            <a:ext cx="3246120" cy="274320"/>
          </a:xfrm>
          <a:prstGeom prst="rect">
            <a:avLst/>
          </a:prstGeom>
          <a:noFill/>
          <a:ln/>
        </p:spPr>
        <p:txBody>
          <a:bodyPr wrap="square" lIns="0" tIns="0" rIns="0" bIns="0" rtlCol="0" anchor="t"/>
          <a:lstStyle/>
          <a:p>
            <a:pPr indent="0" marL="0">
              <a:buNone/>
            </a:pPr>
            <a:r>
              <a:rPr lang="en-US" sz="1400" b="1" dirty="0">
                <a:solidFill>
                  <a:schemeClr val="tx1"/>
                </a:solidFill>
              </a:rPr>
              <a:t>Row-level security</a:t>
            </a:r>
            <a:endParaRPr lang="en-US" sz="1400" dirty="0"/>
          </a:p>
        </p:txBody>
      </p:sp>
      <p:sp>
        <p:nvSpPr>
          <p:cNvPr id="21" name="Text 14"/>
          <p:cNvSpPr txBox="1"/>
          <p:nvPr/>
        </p:nvSpPr>
        <p:spPr>
          <a:xfrm>
            <a:off x="8366760" y="5321808"/>
            <a:ext cx="3246120" cy="868680"/>
          </a:xfrm>
          <a:prstGeom prst="rect">
            <a:avLst/>
          </a:prstGeom>
          <a:noFill/>
          <a:ln/>
        </p:spPr>
        <p:txBody>
          <a:bodyPr wrap="square" lIns="0" tIns="0" rIns="0" bIns="0" rtlCol="0" anchor="t"/>
          <a:lstStyle/>
          <a:p>
            <a:pPr indent="0" marL="0">
              <a:buNone/>
            </a:pPr>
            <a:r>
              <a:rPr lang="en-US" sz="1200" dirty="0">
                <a:solidFill>
                  <a:schemeClr val="tx2"/>
                </a:solidFill>
              </a:rPr>
              <a:t>Enabled on all 17 tables; the browser key cannot write, so every write goes through the server</a:t>
            </a:r>
            <a:endParaRPr lang="en-US" sz="12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CORE WORKFLOW · BOOKING ENGINE</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Seats are taken in one transaction, or not at all</a:t>
            </a:r>
            <a:endParaRPr lang="en-US" sz="3000" dirty="0"/>
          </a:p>
        </p:txBody>
      </p:sp>
      <p:sp>
        <p:nvSpPr>
          <p:cNvPr id="4" name="card"/>
          <p:cNvSpPr/>
          <p:nvPr/>
        </p:nvSpPr>
        <p:spPr>
          <a:xfrm>
            <a:off x="548640" y="1463040"/>
            <a:ext cx="2057400" cy="2331720"/>
          </a:xfrm>
          <a:prstGeom prst="roundRect">
            <a:avLst>
              <a:gd name="adj" fmla="val 4444"/>
            </a:avLst>
          </a:prstGeom>
          <a:solidFill>
            <a:schemeClr val="bg2"/>
          </a:solidFill>
          <a:ln w="9525">
            <a:solidFill>
              <a:schemeClr val="bg2"/>
            </a:solidFill>
            <a:prstDash val="solid"/>
          </a:ln>
        </p:spPr>
      </p:sp>
      <p:sp>
        <p:nvSpPr>
          <p:cNvPr id="5" name="Text 3"/>
          <p:cNvSpPr txBox="1"/>
          <p:nvPr/>
        </p:nvSpPr>
        <p:spPr>
          <a:xfrm>
            <a:off x="777240" y="1627632"/>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777240" y="22402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Idempotency</a:t>
            </a:r>
            <a:endParaRPr lang="en-US" sz="1500" dirty="0"/>
          </a:p>
        </p:txBody>
      </p:sp>
      <p:sp>
        <p:nvSpPr>
          <p:cNvPr id="7" name="Text 5"/>
          <p:cNvSpPr txBox="1"/>
          <p:nvPr/>
        </p:nvSpPr>
        <p:spPr>
          <a:xfrm>
            <a:off x="777240" y="2633472"/>
            <a:ext cx="1691640" cy="1097280"/>
          </a:xfrm>
          <a:prstGeom prst="rect">
            <a:avLst/>
          </a:prstGeom>
          <a:noFill/>
          <a:ln/>
        </p:spPr>
        <p:txBody>
          <a:bodyPr wrap="square" lIns="0" tIns="0" rIns="0" bIns="0" rtlCol="0" anchor="t"/>
          <a:lstStyle/>
          <a:p>
            <a:pPr indent="0" marL="0">
              <a:buNone/>
            </a:pPr>
            <a:r>
              <a:rPr lang="en-US" sz="1200" dirty="0">
                <a:solidFill>
                  <a:schemeClr val="tx2"/>
                </a:solidFill>
              </a:rPr>
              <a:t>A repeated submission returns the original booking</a:t>
            </a:r>
            <a:endParaRPr lang="en-US" sz="1200" dirty="0"/>
          </a:p>
        </p:txBody>
      </p:sp>
      <p:pic>
        <p:nvPicPr>
          <p:cNvPr id="8" name="Image 0" descr="next">    </p:cNvPr>
          <p:cNvPicPr>
            <a:picLocks noChangeAspect="1"/>
          </p:cNvPicPr>
          <p:nvPr/>
        </p:nvPicPr>
        <p:blipFill>
          <a:blip r:embed="rId1"/>
          <a:stretch>
            <a:fillRect/>
          </a:stretch>
        </p:blipFill>
        <p:spPr>
          <a:xfrm>
            <a:off x="2615184" y="2487168"/>
            <a:ext cx="182880" cy="274320"/>
          </a:xfrm>
          <a:prstGeom prst="rect">
            <a:avLst/>
          </a:prstGeom>
        </p:spPr>
      </p:pic>
      <p:sp>
        <p:nvSpPr>
          <p:cNvPr id="9" name="card"/>
          <p:cNvSpPr/>
          <p:nvPr/>
        </p:nvSpPr>
        <p:spPr>
          <a:xfrm>
            <a:off x="2807208" y="1463040"/>
            <a:ext cx="2057400" cy="2331720"/>
          </a:xfrm>
          <a:prstGeom prst="roundRect">
            <a:avLst>
              <a:gd name="adj" fmla="val 4444"/>
            </a:avLst>
          </a:prstGeom>
          <a:solidFill>
            <a:schemeClr val="bg2"/>
          </a:solidFill>
          <a:ln w="9525">
            <a:solidFill>
              <a:schemeClr val="bg2"/>
            </a:solidFill>
            <a:prstDash val="solid"/>
          </a:ln>
        </p:spPr>
      </p:sp>
      <p:sp>
        <p:nvSpPr>
          <p:cNvPr id="10" name="Text 7"/>
          <p:cNvSpPr txBox="1"/>
          <p:nvPr/>
        </p:nvSpPr>
        <p:spPr>
          <a:xfrm>
            <a:off x="3035808" y="1627632"/>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3035808" y="22402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Release holds</a:t>
            </a:r>
            <a:endParaRPr lang="en-US" sz="1500" dirty="0"/>
          </a:p>
        </p:txBody>
      </p:sp>
      <p:sp>
        <p:nvSpPr>
          <p:cNvPr id="12" name="Text 9"/>
          <p:cNvSpPr txBox="1"/>
          <p:nvPr/>
        </p:nvSpPr>
        <p:spPr>
          <a:xfrm>
            <a:off x="3035808" y="2633472"/>
            <a:ext cx="1691640" cy="1097280"/>
          </a:xfrm>
          <a:prstGeom prst="rect">
            <a:avLst/>
          </a:prstGeom>
          <a:noFill/>
          <a:ln/>
        </p:spPr>
        <p:txBody>
          <a:bodyPr wrap="square" lIns="0" tIns="0" rIns="0" bIns="0" rtlCol="0" anchor="t"/>
          <a:lstStyle/>
          <a:p>
            <a:pPr indent="0" marL="0">
              <a:buNone/>
            </a:pPr>
            <a:r>
              <a:rPr lang="en-US" sz="1200" dirty="0">
                <a:solidFill>
                  <a:schemeClr val="tx2"/>
                </a:solidFill>
              </a:rPr>
              <a:t>Unpaid seats older than 10 minutes are freed</a:t>
            </a:r>
            <a:endParaRPr lang="en-US" sz="1200" dirty="0"/>
          </a:p>
        </p:txBody>
      </p:sp>
      <p:pic>
        <p:nvPicPr>
          <p:cNvPr id="13" name="Image 1" descr="next">    </p:cNvPr>
          <p:cNvPicPr>
            <a:picLocks noChangeAspect="1"/>
          </p:cNvPicPr>
          <p:nvPr/>
        </p:nvPicPr>
        <p:blipFill>
          <a:blip r:embed="rId2"/>
          <a:stretch>
            <a:fillRect/>
          </a:stretch>
        </p:blipFill>
        <p:spPr>
          <a:xfrm>
            <a:off x="4873752" y="2487168"/>
            <a:ext cx="182880" cy="274320"/>
          </a:xfrm>
          <a:prstGeom prst="rect">
            <a:avLst/>
          </a:prstGeom>
        </p:spPr>
      </p:pic>
      <p:sp>
        <p:nvSpPr>
          <p:cNvPr id="14" name="card"/>
          <p:cNvSpPr/>
          <p:nvPr/>
        </p:nvSpPr>
        <p:spPr>
          <a:xfrm>
            <a:off x="5065776" y="1463040"/>
            <a:ext cx="2057400" cy="2331720"/>
          </a:xfrm>
          <a:prstGeom prst="roundRect">
            <a:avLst>
              <a:gd name="adj" fmla="val 4444"/>
            </a:avLst>
          </a:prstGeom>
          <a:solidFill>
            <a:schemeClr val="bg2"/>
          </a:solidFill>
          <a:ln w="9525">
            <a:solidFill>
              <a:schemeClr val="bg2"/>
            </a:solidFill>
            <a:prstDash val="solid"/>
          </a:ln>
        </p:spPr>
      </p:sp>
      <p:sp>
        <p:nvSpPr>
          <p:cNvPr id="15" name="Text 11"/>
          <p:cNvSpPr txBox="1"/>
          <p:nvPr/>
        </p:nvSpPr>
        <p:spPr>
          <a:xfrm>
            <a:off x="5294376" y="1627632"/>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16" name="Text 12"/>
          <p:cNvSpPr txBox="1"/>
          <p:nvPr/>
        </p:nvSpPr>
        <p:spPr>
          <a:xfrm>
            <a:off x="5294376" y="22402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Lock &amp; validate</a:t>
            </a:r>
            <a:endParaRPr lang="en-US" sz="1500" dirty="0"/>
          </a:p>
        </p:txBody>
      </p:sp>
      <p:sp>
        <p:nvSpPr>
          <p:cNvPr id="17" name="Text 13"/>
          <p:cNvSpPr txBox="1"/>
          <p:nvPr/>
        </p:nvSpPr>
        <p:spPr>
          <a:xfrm>
            <a:off x="5294376" y="2633472"/>
            <a:ext cx="1691640" cy="1097280"/>
          </a:xfrm>
          <a:prstGeom prst="rect">
            <a:avLst/>
          </a:prstGeom>
          <a:noFill/>
          <a:ln/>
        </p:spPr>
        <p:txBody>
          <a:bodyPr wrap="square" lIns="0" tIns="0" rIns="0" bIns="0" rtlCol="0" anchor="t"/>
          <a:lstStyle/>
          <a:p>
            <a:pPr indent="0" marL="0">
              <a:buNone/>
            </a:pPr>
            <a:r>
              <a:rPr lang="en-US" sz="1200" dirty="0">
                <a:solidFill>
                  <a:schemeClr val="tx2"/>
                </a:solidFill>
              </a:rPr>
              <a:t>Profile row locked; event open; eligibility; ≤ 4 tickets</a:t>
            </a:r>
            <a:endParaRPr lang="en-US" sz="1200" dirty="0"/>
          </a:p>
        </p:txBody>
      </p:sp>
      <p:pic>
        <p:nvPicPr>
          <p:cNvPr id="18" name="Image 2" descr="next">    </p:cNvPr>
          <p:cNvPicPr>
            <a:picLocks noChangeAspect="1"/>
          </p:cNvPicPr>
          <p:nvPr/>
        </p:nvPicPr>
        <p:blipFill>
          <a:blip r:embed="rId3"/>
          <a:stretch>
            <a:fillRect/>
          </a:stretch>
        </p:blipFill>
        <p:spPr>
          <a:xfrm>
            <a:off x="7132320" y="2487168"/>
            <a:ext cx="182880" cy="274320"/>
          </a:xfrm>
          <a:prstGeom prst="rect">
            <a:avLst/>
          </a:prstGeom>
        </p:spPr>
      </p:pic>
      <p:sp>
        <p:nvSpPr>
          <p:cNvPr id="19" name="card"/>
          <p:cNvSpPr/>
          <p:nvPr/>
        </p:nvSpPr>
        <p:spPr>
          <a:xfrm>
            <a:off x="7324344" y="1463040"/>
            <a:ext cx="2057400" cy="2331720"/>
          </a:xfrm>
          <a:prstGeom prst="roundRect">
            <a:avLst>
              <a:gd name="adj" fmla="val 4444"/>
            </a:avLst>
          </a:prstGeom>
          <a:solidFill>
            <a:schemeClr val="tx1"/>
          </a:solidFill>
          <a:ln w="9525">
            <a:solidFill>
              <a:schemeClr val="tx1"/>
            </a:solidFill>
            <a:prstDash val="solid"/>
          </a:ln>
        </p:spPr>
      </p:sp>
      <p:sp>
        <p:nvSpPr>
          <p:cNvPr id="20" name="Text 15"/>
          <p:cNvSpPr txBox="1"/>
          <p:nvPr/>
        </p:nvSpPr>
        <p:spPr>
          <a:xfrm>
            <a:off x="7552944" y="1627632"/>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4</a:t>
            </a:r>
            <a:endParaRPr lang="en-US" sz="3000" dirty="0"/>
          </a:p>
        </p:txBody>
      </p:sp>
      <p:sp>
        <p:nvSpPr>
          <p:cNvPr id="21" name="Text 16"/>
          <p:cNvSpPr txBox="1"/>
          <p:nvPr/>
        </p:nvSpPr>
        <p:spPr>
          <a:xfrm>
            <a:off x="7552944" y="2240280"/>
            <a:ext cx="1691640" cy="365760"/>
          </a:xfrm>
          <a:prstGeom prst="rect">
            <a:avLst/>
          </a:prstGeom>
          <a:noFill/>
          <a:ln/>
        </p:spPr>
        <p:txBody>
          <a:bodyPr wrap="square" lIns="0" tIns="0" rIns="0" bIns="0" rtlCol="0" anchor="t"/>
          <a:lstStyle/>
          <a:p>
            <a:pPr indent="0" marL="0">
              <a:buNone/>
            </a:pPr>
            <a:r>
              <a:rPr lang="en-US" sz="1500" b="1" dirty="0">
                <a:solidFill>
                  <a:schemeClr val="bg1"/>
                </a:solidFill>
              </a:rPr>
              <a:t>Reserve atomically</a:t>
            </a:r>
            <a:endParaRPr lang="en-US" sz="1500" dirty="0"/>
          </a:p>
        </p:txBody>
      </p:sp>
      <p:sp>
        <p:nvSpPr>
          <p:cNvPr id="22" name="Text 17"/>
          <p:cNvSpPr txBox="1"/>
          <p:nvPr/>
        </p:nvSpPr>
        <p:spPr>
          <a:xfrm>
            <a:off x="7552944" y="2633472"/>
            <a:ext cx="1691640" cy="1097280"/>
          </a:xfrm>
          <a:prstGeom prst="rect">
            <a:avLst/>
          </a:prstGeom>
          <a:noFill/>
          <a:ln/>
        </p:spPr>
        <p:txBody>
          <a:bodyPr wrap="square" lIns="0" tIns="0" rIns="0" bIns="0" rtlCol="0" anchor="t"/>
          <a:lstStyle/>
          <a:p>
            <a:pPr indent="0" marL="0">
              <a:buNone/>
            </a:pPr>
            <a:r>
              <a:rPr lang="en-US" sz="1200" dirty="0">
                <a:solidFill>
                  <a:schemeClr val="accent6"/>
                </a:solidFill>
              </a:rPr>
              <a:t>Conditional update succeeds only if seats remain</a:t>
            </a:r>
            <a:endParaRPr lang="en-US" sz="1200" dirty="0"/>
          </a:p>
        </p:txBody>
      </p:sp>
      <p:pic>
        <p:nvPicPr>
          <p:cNvPr id="23" name="Image 3" descr="next">    </p:cNvPr>
          <p:cNvPicPr>
            <a:picLocks noChangeAspect="1"/>
          </p:cNvPicPr>
          <p:nvPr/>
        </p:nvPicPr>
        <p:blipFill>
          <a:blip r:embed="rId4"/>
          <a:stretch>
            <a:fillRect/>
          </a:stretch>
        </p:blipFill>
        <p:spPr>
          <a:xfrm>
            <a:off x="9390888" y="2487168"/>
            <a:ext cx="182880" cy="274320"/>
          </a:xfrm>
          <a:prstGeom prst="rect">
            <a:avLst/>
          </a:prstGeom>
        </p:spPr>
      </p:pic>
      <p:sp>
        <p:nvSpPr>
          <p:cNvPr id="24" name="card"/>
          <p:cNvSpPr/>
          <p:nvPr/>
        </p:nvSpPr>
        <p:spPr>
          <a:xfrm>
            <a:off x="9582912" y="1463040"/>
            <a:ext cx="2057400" cy="2331720"/>
          </a:xfrm>
          <a:prstGeom prst="roundRect">
            <a:avLst>
              <a:gd name="adj" fmla="val 4444"/>
            </a:avLst>
          </a:prstGeom>
          <a:solidFill>
            <a:schemeClr val="bg2"/>
          </a:solidFill>
          <a:ln w="9525">
            <a:solidFill>
              <a:schemeClr val="bg2"/>
            </a:solidFill>
            <a:prstDash val="solid"/>
          </a:ln>
        </p:spPr>
      </p:sp>
      <p:sp>
        <p:nvSpPr>
          <p:cNvPr id="25" name="Text 19"/>
          <p:cNvSpPr txBox="1"/>
          <p:nvPr/>
        </p:nvSpPr>
        <p:spPr>
          <a:xfrm>
            <a:off x="9811512" y="1627632"/>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5</a:t>
            </a:r>
            <a:endParaRPr lang="en-US" sz="3000" dirty="0"/>
          </a:p>
        </p:txBody>
      </p:sp>
      <p:sp>
        <p:nvSpPr>
          <p:cNvPr id="26" name="Text 20"/>
          <p:cNvSpPr txBox="1"/>
          <p:nvPr/>
        </p:nvSpPr>
        <p:spPr>
          <a:xfrm>
            <a:off x="9811512" y="22402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Create booking</a:t>
            </a:r>
            <a:endParaRPr lang="en-US" sz="1500" dirty="0"/>
          </a:p>
        </p:txBody>
      </p:sp>
      <p:sp>
        <p:nvSpPr>
          <p:cNvPr id="27" name="Text 21"/>
          <p:cNvSpPr txBox="1"/>
          <p:nvPr/>
        </p:nvSpPr>
        <p:spPr>
          <a:xfrm>
            <a:off x="9811512" y="2633472"/>
            <a:ext cx="1691640" cy="1097280"/>
          </a:xfrm>
          <a:prstGeom prst="rect">
            <a:avLst/>
          </a:prstGeom>
          <a:noFill/>
          <a:ln/>
        </p:spPr>
        <p:txBody>
          <a:bodyPr wrap="square" lIns="0" tIns="0" rIns="0" bIns="0" rtlCol="0" anchor="t"/>
          <a:lstStyle/>
          <a:p>
            <a:pPr indent="0" marL="0">
              <a:buNone/>
            </a:pPr>
            <a:r>
              <a:rPr lang="en-US" sz="1200" dirty="0">
                <a:solidFill>
                  <a:schemeClr val="tx2"/>
                </a:solidFill>
              </a:rPr>
              <a:t>Free → approved</a:t>
            </a:r>
            <a:endParaRPr lang="en-US" sz="1200" dirty="0"/>
          </a:p>
          <a:p>
            <a:pPr indent="0" marL="0">
              <a:buNone/>
            </a:pPr>
            <a:r>
              <a:rPr lang="en-US" sz="1200" dirty="0">
                <a:solidFill>
                  <a:schemeClr val="tx2"/>
                </a:solidFill>
              </a:rPr>
              <a:t>Paid → 10-min hold</a:t>
            </a:r>
            <a:endParaRPr lang="en-US" sz="1200" dirty="0"/>
          </a:p>
          <a:p>
            <a:pPr indent="0" marL="0">
              <a:buNone/>
            </a:pPr>
            <a:r>
              <a:rPr lang="en-US" sz="1200" dirty="0">
                <a:solidFill>
                  <a:schemeClr val="tx2"/>
                </a:solidFill>
              </a:rPr>
              <a:t>Pass → organizer review</a:t>
            </a:r>
            <a:endParaRPr lang="en-US" sz="1200" dirty="0"/>
          </a:p>
        </p:txBody>
      </p:sp>
      <p:sp>
        <p:nvSpPr>
          <p:cNvPr id="28" name="card"/>
          <p:cNvSpPr/>
          <p:nvPr/>
        </p:nvSpPr>
        <p:spPr>
          <a:xfrm>
            <a:off x="548640" y="4023360"/>
            <a:ext cx="6035040" cy="2148840"/>
          </a:xfrm>
          <a:prstGeom prst="roundRect">
            <a:avLst>
              <a:gd name="adj" fmla="val 4255"/>
            </a:avLst>
          </a:prstGeom>
          <a:solidFill>
            <a:schemeClr val="tx1"/>
          </a:solidFill>
          <a:ln w="9525">
            <a:solidFill>
              <a:schemeClr val="tx1"/>
            </a:solidFill>
            <a:prstDash val="solid"/>
          </a:ln>
        </p:spPr>
      </p:sp>
      <p:sp>
        <p:nvSpPr>
          <p:cNvPr id="29" name="Text 23"/>
          <p:cNvSpPr txBox="1"/>
          <p:nvPr/>
        </p:nvSpPr>
        <p:spPr>
          <a:xfrm>
            <a:off x="822960" y="4206240"/>
            <a:ext cx="54864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THE RULE THAT PREVENTS OVERSELLING</a:t>
            </a:r>
            <a:endParaRPr lang="en-US" sz="1100" dirty="0"/>
          </a:p>
        </p:txBody>
      </p:sp>
      <p:sp>
        <p:nvSpPr>
          <p:cNvPr id="30" name="Text 24"/>
          <p:cNvSpPr txBox="1"/>
          <p:nvPr/>
        </p:nvSpPr>
        <p:spPr>
          <a:xfrm>
            <a:off x="822960" y="4572000"/>
            <a:ext cx="5486400" cy="1463040"/>
          </a:xfrm>
          <a:prstGeom prst="rect">
            <a:avLst/>
          </a:prstGeom>
          <a:noFill/>
          <a:ln/>
        </p:spPr>
        <p:txBody>
          <a:bodyPr wrap="square" lIns="0" tIns="0" rIns="0" bIns="0" rtlCol="0" anchor="t"/>
          <a:lstStyle/>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UPDATE ticket_tiers</a:t>
            </a:r>
            <a:endParaRPr lang="en-US" sz="1500" dirty="0"/>
          </a:p>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   SET allocated = allocated + n</a:t>
            </a:r>
            <a:endParaRPr lang="en-US" sz="1500" dirty="0"/>
          </a:p>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 WHERE id = :tier</a:t>
            </a:r>
            <a:endParaRPr lang="en-US" sz="1500" dirty="0"/>
          </a:p>
          <a:p>
            <a:pPr indent="0" marL="0">
              <a:lnSpc>
                <a:spcPct val="105000"/>
              </a:lnSpc>
              <a:buNone/>
            </a:pPr>
            <a:r>
              <a:rPr lang="en-US" sz="1500" dirty="0">
                <a:solidFill>
                  <a:schemeClr val="bg1"/>
                </a:solidFill>
                <a:latin typeface="Courier New" pitchFamily="34" charset="0"/>
                <a:ea typeface="Courier New" pitchFamily="34" charset="-122"/>
                <a:cs typeface="Courier New" pitchFamily="34" charset="-120"/>
              </a:rPr>
              <a:t>   AND allocated + n &lt;= capacity;</a:t>
            </a:r>
            <a:endParaRPr lang="en-US" sz="1500" dirty="0"/>
          </a:p>
        </p:txBody>
      </p:sp>
      <p:sp>
        <p:nvSpPr>
          <p:cNvPr id="31" name="Text 25"/>
          <p:cNvSpPr txBox="1"/>
          <p:nvPr/>
        </p:nvSpPr>
        <p:spPr>
          <a:xfrm>
            <a:off x="6903720" y="4069080"/>
            <a:ext cx="45720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PAYMENT PATH</a:t>
            </a:r>
            <a:endParaRPr lang="en-US" sz="1100" dirty="0"/>
          </a:p>
        </p:txBody>
      </p:sp>
      <p:sp>
        <p:nvSpPr>
          <p:cNvPr id="32" name="Text 26"/>
          <p:cNvSpPr txBox="1"/>
          <p:nvPr/>
        </p:nvSpPr>
        <p:spPr>
          <a:xfrm>
            <a:off x="6903720" y="4389120"/>
            <a:ext cx="4709160" cy="1783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Razorpay order created from the booking amount (never from the browser)</a:t>
            </a:r>
            <a:endParaRPr lang="en-US" sz="1300" dirty="0"/>
          </a:p>
          <a:p>
            <a:pPr marL="177800" indent="-177800">
              <a:spcAft>
                <a:spcPts val="600"/>
              </a:spcAft>
              <a:buSzPct val="100000"/>
              <a:buChar char="•"/>
            </a:pPr>
            <a:r>
              <a:rPr lang="en-US" sz="1300" dirty="0">
                <a:solidFill>
                  <a:schemeClr val="tx2"/>
                </a:solidFill>
              </a:rPr>
              <a:t>Checkout callback and webhook verify the HMAC signature; first one confirms, the second is ignored</a:t>
            </a:r>
            <a:endParaRPr lang="en-US" sz="1300" dirty="0"/>
          </a:p>
          <a:p>
            <a:pPr marL="177800" indent="-177800">
              <a:buSzPct val="100000"/>
              <a:buChar char="•"/>
            </a:pPr>
            <a:r>
              <a:rPr lang="en-US" sz="1300" dirty="0">
                <a:solidFill>
                  <a:schemeClr val="tx2"/>
                </a:solidFill>
              </a:rPr>
              <a:t>Late payment re-takes the seats, or becomes a payment exception for an admin</a:t>
            </a:r>
            <a:endParaRPr lang="en-US" sz="13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CHECK-IN &amp; SECURITY</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Every ticket admitted once; every request checked twice</a:t>
            </a:r>
            <a:endParaRPr lang="en-US" sz="3000" dirty="0"/>
          </a:p>
        </p:txBody>
      </p:sp>
      <p:sp>
        <p:nvSpPr>
          <p:cNvPr id="4" name="Text 2"/>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CHECK-IN AT THE VENUE</a:t>
            </a:r>
            <a:endParaRPr lang="en-US" sz="1100" dirty="0"/>
          </a:p>
        </p:txBody>
      </p:sp>
      <p:sp>
        <p:nvSpPr>
          <p:cNvPr id="5" name="icon-circle"/>
          <p:cNvSpPr/>
          <p:nvPr/>
        </p:nvSpPr>
        <p:spPr>
          <a:xfrm>
            <a:off x="548640" y="1783080"/>
            <a:ext cx="475488" cy="475488"/>
          </a:xfrm>
          <a:prstGeom prst="ellipse">
            <a:avLst/>
          </a:prstGeom>
          <a:solidFill>
            <a:schemeClr val="accent1"/>
          </a:solidFill>
          <a:ln w="12700">
            <a:solidFill>
              <a:schemeClr val="accent1"/>
            </a:solidFill>
            <a:prstDash val="solid"/>
          </a:ln>
        </p:spPr>
      </p:sp>
      <p:pic>
        <p:nvPicPr>
          <p:cNvPr id="6" name="Image 0" descr="LuUserCheck">    </p:cNvPr>
          <p:cNvPicPr>
            <a:picLocks noChangeAspect="1"/>
          </p:cNvPicPr>
          <p:nvPr/>
        </p:nvPicPr>
        <p:blipFill>
          <a:blip r:embed="rId1"/>
          <a:stretch>
            <a:fillRect/>
          </a:stretch>
        </p:blipFill>
        <p:spPr>
          <a:xfrm>
            <a:off x="662757" y="1897197"/>
            <a:ext cx="247254" cy="247254"/>
          </a:xfrm>
          <a:prstGeom prst="rect">
            <a:avLst/>
          </a:prstGeom>
        </p:spPr>
      </p:pic>
      <p:sp>
        <p:nvSpPr>
          <p:cNvPr id="7" name="Text 4"/>
          <p:cNvSpPr txBox="1"/>
          <p:nvPr/>
        </p:nvSpPr>
        <p:spPr>
          <a:xfrm>
            <a:off x="1207008" y="1764792"/>
            <a:ext cx="4754880" cy="292608"/>
          </a:xfrm>
          <a:prstGeom prst="rect">
            <a:avLst/>
          </a:prstGeom>
          <a:noFill/>
          <a:ln/>
        </p:spPr>
        <p:txBody>
          <a:bodyPr wrap="square" lIns="0" tIns="0" rIns="0" bIns="0" rtlCol="0" anchor="t"/>
          <a:lstStyle/>
          <a:p>
            <a:pPr indent="0" marL="0">
              <a:buNone/>
            </a:pPr>
            <a:r>
              <a:rPr lang="en-US" sz="1400" b="1" dirty="0">
                <a:solidFill>
                  <a:schemeClr val="tx1"/>
                </a:solidFill>
              </a:rPr>
              <a:t>Authorise the scanner</a:t>
            </a:r>
            <a:endParaRPr lang="en-US" sz="1400" dirty="0"/>
          </a:p>
        </p:txBody>
      </p:sp>
      <p:sp>
        <p:nvSpPr>
          <p:cNvPr id="8" name="Text 5"/>
          <p:cNvSpPr txBox="1"/>
          <p:nvPr/>
        </p:nvSpPr>
        <p:spPr>
          <a:xfrm>
            <a:off x="1207008" y="2057400"/>
            <a:ext cx="4754880" cy="685800"/>
          </a:xfrm>
          <a:prstGeom prst="rect">
            <a:avLst/>
          </a:prstGeom>
          <a:noFill/>
          <a:ln/>
        </p:spPr>
        <p:txBody>
          <a:bodyPr wrap="square" lIns="0" tIns="0" rIns="0" bIns="0" rtlCol="0" anchor="t"/>
          <a:lstStyle/>
          <a:p>
            <a:pPr indent="0" marL="0">
              <a:buNone/>
            </a:pPr>
            <a:r>
              <a:rPr lang="en-US" sz="1250" dirty="0">
                <a:solidFill>
                  <a:schemeClr val="tx2"/>
                </a:solidFill>
              </a:rPr>
              <a:t>Admin, owning organizer, or an active moderator of this event</a:t>
            </a:r>
            <a:endParaRPr lang="en-US" sz="1250" dirty="0"/>
          </a:p>
        </p:txBody>
      </p:sp>
      <p:sp>
        <p:nvSpPr>
          <p:cNvPr id="9" name="icon-circle"/>
          <p:cNvSpPr/>
          <p:nvPr/>
        </p:nvSpPr>
        <p:spPr>
          <a:xfrm>
            <a:off x="548640" y="2880360"/>
            <a:ext cx="475488" cy="475488"/>
          </a:xfrm>
          <a:prstGeom prst="ellipse">
            <a:avLst/>
          </a:prstGeom>
          <a:solidFill>
            <a:schemeClr val="accent1"/>
          </a:solidFill>
          <a:ln w="12700">
            <a:solidFill>
              <a:schemeClr val="accent1"/>
            </a:solidFill>
            <a:prstDash val="solid"/>
          </a:ln>
        </p:spPr>
      </p:sp>
      <p:pic>
        <p:nvPicPr>
          <p:cNvPr id="10" name="Image 1" descr="LuQrCode">    </p:cNvPr>
          <p:cNvPicPr>
            <a:picLocks noChangeAspect="1"/>
          </p:cNvPicPr>
          <p:nvPr/>
        </p:nvPicPr>
        <p:blipFill>
          <a:blip r:embed="rId2"/>
          <a:stretch>
            <a:fillRect/>
          </a:stretch>
        </p:blipFill>
        <p:spPr>
          <a:xfrm>
            <a:off x="662757" y="2994477"/>
            <a:ext cx="247254" cy="247254"/>
          </a:xfrm>
          <a:prstGeom prst="rect">
            <a:avLst/>
          </a:prstGeom>
        </p:spPr>
      </p:pic>
      <p:sp>
        <p:nvSpPr>
          <p:cNvPr id="11" name="Text 7"/>
          <p:cNvSpPr txBox="1"/>
          <p:nvPr/>
        </p:nvSpPr>
        <p:spPr>
          <a:xfrm>
            <a:off x="1207008" y="2862072"/>
            <a:ext cx="4754880" cy="292608"/>
          </a:xfrm>
          <a:prstGeom prst="rect">
            <a:avLst/>
          </a:prstGeom>
          <a:noFill/>
          <a:ln/>
        </p:spPr>
        <p:txBody>
          <a:bodyPr wrap="square" lIns="0" tIns="0" rIns="0" bIns="0" rtlCol="0" anchor="t"/>
          <a:lstStyle/>
          <a:p>
            <a:pPr indent="0" marL="0">
              <a:buNone/>
            </a:pPr>
            <a:r>
              <a:rPr lang="en-US" sz="1400" b="1" dirty="0">
                <a:solidFill>
                  <a:schemeClr val="tx1"/>
                </a:solidFill>
              </a:rPr>
              <a:t>Parse the QR</a:t>
            </a:r>
            <a:endParaRPr lang="en-US" sz="1400" dirty="0"/>
          </a:p>
        </p:txBody>
      </p:sp>
      <p:sp>
        <p:nvSpPr>
          <p:cNvPr id="12" name="Text 8"/>
          <p:cNvSpPr txBox="1"/>
          <p:nvPr/>
        </p:nvSpPr>
        <p:spPr>
          <a:xfrm>
            <a:off x="1207008" y="3154680"/>
            <a:ext cx="4754880" cy="685800"/>
          </a:xfrm>
          <a:prstGeom prst="rect">
            <a:avLst/>
          </a:prstGeom>
          <a:noFill/>
          <a:ln/>
        </p:spPr>
        <p:txBody>
          <a:bodyPr wrap="square" lIns="0" tIns="0" rIns="0" bIns="0" rtlCol="0" anchor="t"/>
          <a:lstStyle/>
          <a:p>
            <a:pPr indent="0" marL="0">
              <a:buNone/>
            </a:pPr>
            <a:r>
              <a:rPr lang="en-US" sz="1250" dirty="0">
                <a:solidFill>
                  <a:schemeClr val="tx2"/>
                </a:solidFill>
              </a:rPr>
              <a:t>Contains only EVD1: plus a 192-bit random token; no personal data</a:t>
            </a:r>
            <a:endParaRPr lang="en-US" sz="1250" dirty="0"/>
          </a:p>
        </p:txBody>
      </p:sp>
      <p:sp>
        <p:nvSpPr>
          <p:cNvPr id="13" name="icon-circle"/>
          <p:cNvSpPr/>
          <p:nvPr/>
        </p:nvSpPr>
        <p:spPr>
          <a:xfrm>
            <a:off x="548640" y="3977640"/>
            <a:ext cx="475488" cy="475488"/>
          </a:xfrm>
          <a:prstGeom prst="ellipse">
            <a:avLst/>
          </a:prstGeom>
          <a:solidFill>
            <a:schemeClr val="accent1"/>
          </a:solidFill>
          <a:ln w="12700">
            <a:solidFill>
              <a:schemeClr val="accent1"/>
            </a:solidFill>
            <a:prstDash val="solid"/>
          </a:ln>
        </p:spPr>
      </p:sp>
      <p:pic>
        <p:nvPicPr>
          <p:cNvPr id="14" name="Image 2" descr="LuSearchCheck">    </p:cNvPr>
          <p:cNvPicPr>
            <a:picLocks noChangeAspect="1"/>
          </p:cNvPicPr>
          <p:nvPr/>
        </p:nvPicPr>
        <p:blipFill>
          <a:blip r:embed="rId3"/>
          <a:stretch>
            <a:fillRect/>
          </a:stretch>
        </p:blipFill>
        <p:spPr>
          <a:xfrm>
            <a:off x="662757" y="4091757"/>
            <a:ext cx="247254" cy="247254"/>
          </a:xfrm>
          <a:prstGeom prst="rect">
            <a:avLst/>
          </a:prstGeom>
        </p:spPr>
      </p:pic>
      <p:sp>
        <p:nvSpPr>
          <p:cNvPr id="15" name="Text 10"/>
          <p:cNvSpPr txBox="1"/>
          <p:nvPr/>
        </p:nvSpPr>
        <p:spPr>
          <a:xfrm>
            <a:off x="1207008" y="3959352"/>
            <a:ext cx="4754880" cy="292608"/>
          </a:xfrm>
          <a:prstGeom prst="rect">
            <a:avLst/>
          </a:prstGeom>
          <a:noFill/>
          <a:ln/>
        </p:spPr>
        <p:txBody>
          <a:bodyPr wrap="square" lIns="0" tIns="0" rIns="0" bIns="0" rtlCol="0" anchor="t"/>
          <a:lstStyle/>
          <a:p>
            <a:pPr indent="0" marL="0">
              <a:buNone/>
            </a:pPr>
            <a:r>
              <a:rPr lang="en-US" sz="1400" b="1" dirty="0">
                <a:solidFill>
                  <a:schemeClr val="tx1"/>
                </a:solidFill>
              </a:rPr>
              <a:t>Validate from the database</a:t>
            </a:r>
            <a:endParaRPr lang="en-US" sz="1400" dirty="0"/>
          </a:p>
        </p:txBody>
      </p:sp>
      <p:sp>
        <p:nvSpPr>
          <p:cNvPr id="16" name="Text 11"/>
          <p:cNvSpPr txBox="1"/>
          <p:nvPr/>
        </p:nvSpPr>
        <p:spPr>
          <a:xfrm>
            <a:off x="1207008" y="4251960"/>
            <a:ext cx="4754880" cy="685800"/>
          </a:xfrm>
          <a:prstGeom prst="rect">
            <a:avLst/>
          </a:prstGeom>
          <a:noFill/>
          <a:ln/>
        </p:spPr>
        <p:txBody>
          <a:bodyPr wrap="square" lIns="0" tIns="0" rIns="0" bIns="0" rtlCol="0" anchor="t"/>
          <a:lstStyle/>
          <a:p>
            <a:pPr indent="0" marL="0">
              <a:buNone/>
            </a:pPr>
            <a:r>
              <a:rPr lang="en-US" sz="1250" dirty="0">
                <a:solidFill>
                  <a:schemeClr val="tx2"/>
                </a:solidFill>
              </a:rPr>
              <a:t>Right event, valid ticket, approved booking, payment, inside the check-in window</a:t>
            </a:r>
            <a:endParaRPr lang="en-US" sz="1250" dirty="0"/>
          </a:p>
        </p:txBody>
      </p:sp>
      <p:sp>
        <p:nvSpPr>
          <p:cNvPr id="17" name="icon-circle"/>
          <p:cNvSpPr/>
          <p:nvPr/>
        </p:nvSpPr>
        <p:spPr>
          <a:xfrm>
            <a:off x="548640" y="5074920"/>
            <a:ext cx="475488" cy="475488"/>
          </a:xfrm>
          <a:prstGeom prst="ellipse">
            <a:avLst/>
          </a:prstGeom>
          <a:solidFill>
            <a:schemeClr val="accent2"/>
          </a:solidFill>
          <a:ln w="12700">
            <a:solidFill>
              <a:schemeClr val="accent2"/>
            </a:solidFill>
            <a:prstDash val="solid"/>
          </a:ln>
        </p:spPr>
      </p:sp>
      <p:pic>
        <p:nvPicPr>
          <p:cNvPr id="18" name="Image 3" descr="LuCircleCheckBig">    </p:cNvPr>
          <p:cNvPicPr>
            <a:picLocks noChangeAspect="1"/>
          </p:cNvPicPr>
          <p:nvPr/>
        </p:nvPicPr>
        <p:blipFill>
          <a:blip r:embed="rId4"/>
          <a:stretch>
            <a:fillRect/>
          </a:stretch>
        </p:blipFill>
        <p:spPr>
          <a:xfrm>
            <a:off x="662757" y="5189037"/>
            <a:ext cx="247254" cy="247254"/>
          </a:xfrm>
          <a:prstGeom prst="rect">
            <a:avLst/>
          </a:prstGeom>
        </p:spPr>
      </p:pic>
      <p:sp>
        <p:nvSpPr>
          <p:cNvPr id="19" name="Text 13"/>
          <p:cNvSpPr txBox="1"/>
          <p:nvPr/>
        </p:nvSpPr>
        <p:spPr>
          <a:xfrm>
            <a:off x="1207008" y="5056632"/>
            <a:ext cx="4754880" cy="292608"/>
          </a:xfrm>
          <a:prstGeom prst="rect">
            <a:avLst/>
          </a:prstGeom>
          <a:noFill/>
          <a:ln/>
        </p:spPr>
        <p:txBody>
          <a:bodyPr wrap="square" lIns="0" tIns="0" rIns="0" bIns="0" rtlCol="0" anchor="t"/>
          <a:lstStyle/>
          <a:p>
            <a:pPr indent="0" marL="0">
              <a:buNone/>
            </a:pPr>
            <a:r>
              <a:rPr lang="en-US" sz="1400" b="1" dirty="0">
                <a:solidFill>
                  <a:schemeClr val="tx1"/>
                </a:solidFill>
              </a:rPr>
              <a:t>Record once</a:t>
            </a:r>
            <a:endParaRPr lang="en-US" sz="1400" dirty="0"/>
          </a:p>
        </p:txBody>
      </p:sp>
      <p:sp>
        <p:nvSpPr>
          <p:cNvPr id="20" name="Text 14"/>
          <p:cNvSpPr txBox="1"/>
          <p:nvPr/>
        </p:nvSpPr>
        <p:spPr>
          <a:xfrm>
            <a:off x="1207008" y="5349240"/>
            <a:ext cx="4754880" cy="685800"/>
          </a:xfrm>
          <a:prstGeom prst="rect">
            <a:avLst/>
          </a:prstGeom>
          <a:noFill/>
          <a:ln/>
        </p:spPr>
        <p:txBody>
          <a:bodyPr wrap="square" lIns="0" tIns="0" rIns="0" bIns="0" rtlCol="0" anchor="t"/>
          <a:lstStyle/>
          <a:p>
            <a:pPr indent="0" marL="0">
              <a:buNone/>
            </a:pPr>
            <a:r>
              <a:rPr lang="en-US" sz="1250" dirty="0">
                <a:solidFill>
                  <a:schemeClr val="tx2"/>
                </a:solidFill>
              </a:rPr>
              <a:t>INSERT … ON CONFLICT (ticket_id) DO NOTHING; the first scan wins on any device</a:t>
            </a:r>
            <a:endParaRPr lang="en-US" sz="1250" dirty="0"/>
          </a:p>
        </p:txBody>
      </p:sp>
      <p:sp>
        <p:nvSpPr>
          <p:cNvPr id="21" name="card"/>
          <p:cNvSpPr/>
          <p:nvPr/>
        </p:nvSpPr>
        <p:spPr>
          <a:xfrm>
            <a:off x="6263640" y="1417320"/>
            <a:ext cx="5376672" cy="4754880"/>
          </a:xfrm>
          <a:prstGeom prst="roundRect">
            <a:avLst>
              <a:gd name="adj" fmla="val 1923"/>
            </a:avLst>
          </a:prstGeom>
          <a:solidFill>
            <a:schemeClr val="bg2"/>
          </a:solidFill>
          <a:ln w="9525">
            <a:solidFill>
              <a:schemeClr val="bg2"/>
            </a:solidFill>
            <a:prstDash val="solid"/>
          </a:ln>
        </p:spPr>
      </p:sp>
      <p:sp>
        <p:nvSpPr>
          <p:cNvPr id="22" name="Text 16"/>
          <p:cNvSpPr txBox="1"/>
          <p:nvPr/>
        </p:nvSpPr>
        <p:spPr>
          <a:xfrm>
            <a:off x="6537960" y="1627632"/>
            <a:ext cx="45720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DEFENCE IN DEPTH</a:t>
            </a:r>
            <a:endParaRPr lang="en-US" sz="1100" dirty="0"/>
          </a:p>
        </p:txBody>
      </p:sp>
      <p:sp>
        <p:nvSpPr>
          <p:cNvPr id="23" name="layer"/>
          <p:cNvSpPr/>
          <p:nvPr/>
        </p:nvSpPr>
        <p:spPr>
          <a:xfrm>
            <a:off x="6537960" y="2011680"/>
            <a:ext cx="4828032" cy="621792"/>
          </a:xfrm>
          <a:prstGeom prst="roundRect">
            <a:avLst>
              <a:gd name="adj" fmla="val 11765"/>
            </a:avLst>
          </a:prstGeom>
          <a:solidFill>
            <a:schemeClr val="bg1"/>
          </a:solidFill>
          <a:ln w="9525">
            <a:solidFill>
              <a:schemeClr val="accent6"/>
            </a:solidFill>
            <a:prstDash val="solid"/>
          </a:ln>
        </p:spPr>
      </p:sp>
      <p:sp>
        <p:nvSpPr>
          <p:cNvPr id="24" name="Text 18"/>
          <p:cNvSpPr txBox="1"/>
          <p:nvPr/>
        </p:nvSpPr>
        <p:spPr>
          <a:xfrm>
            <a:off x="6720840" y="2011680"/>
            <a:ext cx="4480560" cy="621792"/>
          </a:xfrm>
          <a:prstGeom prst="rect">
            <a:avLst/>
          </a:prstGeom>
          <a:noFill/>
          <a:ln/>
        </p:spPr>
        <p:txBody>
          <a:bodyPr wrap="square" lIns="0" tIns="0" rIns="0" bIns="0" rtlCol="0" anchor="ctr"/>
          <a:lstStyle/>
          <a:p>
            <a:pPr indent="0" marL="0">
              <a:buNone/>
            </a:pPr>
            <a:r>
              <a:rPr lang="en-US" sz="1200" b="1" dirty="0">
                <a:solidFill>
                  <a:schemeClr val="tx1"/>
                </a:solidFill>
              </a:rPr>
              <a:t>Edge proxy  </a:t>
            </a:r>
            <a:pPr indent="0" marL="0">
              <a:buNone/>
            </a:pPr>
            <a:r>
              <a:rPr lang="en-US" sz="1200" dirty="0">
                <a:solidFill>
                  <a:schemeClr val="tx2"/>
                </a:solidFill>
              </a:rPr>
              <a:t>refreshes session; redirects signed-out users</a:t>
            </a:r>
            <a:endParaRPr lang="en-US" sz="1200" dirty="0"/>
          </a:p>
        </p:txBody>
      </p:sp>
      <p:sp>
        <p:nvSpPr>
          <p:cNvPr id="25" name="layer"/>
          <p:cNvSpPr/>
          <p:nvPr/>
        </p:nvSpPr>
        <p:spPr>
          <a:xfrm>
            <a:off x="6647688" y="2761488"/>
            <a:ext cx="4608576" cy="621792"/>
          </a:xfrm>
          <a:prstGeom prst="roundRect">
            <a:avLst>
              <a:gd name="adj" fmla="val 11765"/>
            </a:avLst>
          </a:prstGeom>
          <a:solidFill>
            <a:schemeClr val="bg1"/>
          </a:solidFill>
          <a:ln w="9525">
            <a:solidFill>
              <a:schemeClr val="accent6"/>
            </a:solidFill>
            <a:prstDash val="solid"/>
          </a:ln>
        </p:spPr>
      </p:sp>
      <p:sp>
        <p:nvSpPr>
          <p:cNvPr id="26" name="Text 20"/>
          <p:cNvSpPr txBox="1"/>
          <p:nvPr/>
        </p:nvSpPr>
        <p:spPr>
          <a:xfrm>
            <a:off x="6830568" y="2761488"/>
            <a:ext cx="4261104" cy="621792"/>
          </a:xfrm>
          <a:prstGeom prst="rect">
            <a:avLst/>
          </a:prstGeom>
          <a:noFill/>
          <a:ln/>
        </p:spPr>
        <p:txBody>
          <a:bodyPr wrap="square" lIns="0" tIns="0" rIns="0" bIns="0" rtlCol="0" anchor="ctr"/>
          <a:lstStyle/>
          <a:p>
            <a:pPr indent="0" marL="0">
              <a:buNone/>
            </a:pPr>
            <a:r>
              <a:rPr lang="en-US" sz="1200" b="1" dirty="0">
                <a:solidFill>
                  <a:schemeClr val="tx1"/>
                </a:solidFill>
              </a:rPr>
              <a:t>Role gate  </a:t>
            </a:r>
            <a:pPr indent="0" marL="0">
              <a:buNone/>
            </a:pPr>
            <a:r>
              <a:rPr lang="en-US" sz="1200" dirty="0">
                <a:solidFill>
                  <a:schemeClr val="tx2"/>
                </a:solidFill>
              </a:rPr>
              <a:t>requirePageUser / requireUser on every page and action</a:t>
            </a:r>
            <a:endParaRPr lang="en-US" sz="1200" dirty="0"/>
          </a:p>
        </p:txBody>
      </p:sp>
      <p:sp>
        <p:nvSpPr>
          <p:cNvPr id="27" name="layer"/>
          <p:cNvSpPr/>
          <p:nvPr/>
        </p:nvSpPr>
        <p:spPr>
          <a:xfrm>
            <a:off x="6757416" y="3511296"/>
            <a:ext cx="4389120" cy="621792"/>
          </a:xfrm>
          <a:prstGeom prst="roundRect">
            <a:avLst>
              <a:gd name="adj" fmla="val 11765"/>
            </a:avLst>
          </a:prstGeom>
          <a:solidFill>
            <a:schemeClr val="bg1"/>
          </a:solidFill>
          <a:ln w="9525">
            <a:solidFill>
              <a:schemeClr val="accent6"/>
            </a:solidFill>
            <a:prstDash val="solid"/>
          </a:ln>
        </p:spPr>
      </p:sp>
      <p:sp>
        <p:nvSpPr>
          <p:cNvPr id="28" name="Text 22"/>
          <p:cNvSpPr txBox="1"/>
          <p:nvPr/>
        </p:nvSpPr>
        <p:spPr>
          <a:xfrm>
            <a:off x="6940296" y="3511296"/>
            <a:ext cx="4041648" cy="621792"/>
          </a:xfrm>
          <a:prstGeom prst="rect">
            <a:avLst/>
          </a:prstGeom>
          <a:noFill/>
          <a:ln/>
        </p:spPr>
        <p:txBody>
          <a:bodyPr wrap="square" lIns="0" tIns="0" rIns="0" bIns="0" rtlCol="0" anchor="ctr"/>
          <a:lstStyle/>
          <a:p>
            <a:pPr indent="0" marL="0">
              <a:buNone/>
            </a:pPr>
            <a:r>
              <a:rPr lang="en-US" sz="1200" b="1" dirty="0">
                <a:solidFill>
                  <a:schemeClr val="tx1"/>
                </a:solidFill>
              </a:rPr>
              <a:t>Resource checks  </a:t>
            </a:r>
            <a:pPr indent="0" marL="0">
              <a:buNone/>
            </a:pPr>
            <a:r>
              <a:rPr lang="en-US" sz="1200" dirty="0">
                <a:solidFill>
                  <a:schemeClr val="tx2"/>
                </a:solidFill>
              </a:rPr>
              <a:t>assertCanManageEvent · assertCanScanEvent · ownership</a:t>
            </a:r>
            <a:endParaRPr lang="en-US" sz="1200" dirty="0"/>
          </a:p>
        </p:txBody>
      </p:sp>
      <p:sp>
        <p:nvSpPr>
          <p:cNvPr id="29" name="layer"/>
          <p:cNvSpPr/>
          <p:nvPr/>
        </p:nvSpPr>
        <p:spPr>
          <a:xfrm>
            <a:off x="6867144" y="4261104"/>
            <a:ext cx="4169664" cy="621792"/>
          </a:xfrm>
          <a:prstGeom prst="roundRect">
            <a:avLst>
              <a:gd name="adj" fmla="val 11765"/>
            </a:avLst>
          </a:prstGeom>
          <a:solidFill>
            <a:schemeClr val="bg1"/>
          </a:solidFill>
          <a:ln w="9525">
            <a:solidFill>
              <a:schemeClr val="accent6"/>
            </a:solidFill>
            <a:prstDash val="solid"/>
          </a:ln>
        </p:spPr>
      </p:sp>
      <p:sp>
        <p:nvSpPr>
          <p:cNvPr id="30" name="Text 24"/>
          <p:cNvSpPr txBox="1"/>
          <p:nvPr/>
        </p:nvSpPr>
        <p:spPr>
          <a:xfrm>
            <a:off x="7050024" y="4261104"/>
            <a:ext cx="3822192" cy="621792"/>
          </a:xfrm>
          <a:prstGeom prst="rect">
            <a:avLst/>
          </a:prstGeom>
          <a:noFill/>
          <a:ln/>
        </p:spPr>
        <p:txBody>
          <a:bodyPr wrap="square" lIns="0" tIns="0" rIns="0" bIns="0" rtlCol="0" anchor="ctr"/>
          <a:lstStyle/>
          <a:p>
            <a:pPr indent="0" marL="0">
              <a:buNone/>
            </a:pPr>
            <a:r>
              <a:rPr lang="en-US" sz="1200" b="1" dirty="0">
                <a:solidFill>
                  <a:schemeClr val="tx1"/>
                </a:solidFill>
              </a:rPr>
              <a:t>Database  </a:t>
            </a:r>
            <a:pPr indent="0" marL="0">
              <a:buNone/>
            </a:pPr>
            <a:r>
              <a:rPr lang="en-US" sz="1200" dirty="0">
                <a:solidFill>
                  <a:schemeClr val="tx2"/>
                </a:solidFill>
              </a:rPr>
              <a:t>constraints + row-level security on all tables</a:t>
            </a:r>
            <a:endParaRPr lang="en-US" sz="1200" dirty="0"/>
          </a:p>
        </p:txBody>
      </p:sp>
      <p:sp>
        <p:nvSpPr>
          <p:cNvPr id="31" name="Text 25"/>
          <p:cNvSpPr txBox="1"/>
          <p:nvPr/>
        </p:nvSpPr>
        <p:spPr>
          <a:xfrm>
            <a:off x="6537960" y="5120640"/>
            <a:ext cx="4846320" cy="868680"/>
          </a:xfrm>
          <a:prstGeom prst="rect">
            <a:avLst/>
          </a:prstGeom>
          <a:noFill/>
          <a:ln/>
        </p:spPr>
        <p:txBody>
          <a:bodyPr wrap="square" lIns="0" tIns="0" rIns="0" bIns="0" rtlCol="0" anchor="t"/>
          <a:lstStyle/>
          <a:p>
            <a:pPr indent="0" marL="0">
              <a:buNone/>
            </a:pPr>
            <a:r>
              <a:rPr lang="en-US" sz="1250" i="1" dirty="0">
                <a:solidFill>
                  <a:schemeClr val="tx2"/>
                </a:solidFill>
              </a:rPr>
              <a:t>Never trusted from the client: role, price, per-person limit, audience fields, payment success, ticket validity.</a:t>
            </a:r>
            <a:endParaRPr lang="en-US" sz="12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IMPLEMENTATION · APPLICATION SCREENS</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working application, captured with demo data</a:t>
            </a:r>
            <a:endParaRPr lang="en-US" sz="3000" dirty="0"/>
          </a:p>
        </p:txBody>
      </p:sp>
      <p:sp>
        <p:nvSpPr>
          <p:cNvPr id="4" name="screenshot-frame"/>
          <p:cNvSpPr/>
          <p:nvPr/>
        </p:nvSpPr>
        <p:spPr>
          <a:xfrm>
            <a:off x="557784" y="1426464"/>
            <a:ext cx="7114032" cy="4505917"/>
          </a:xfrm>
          <a:prstGeom prst="roundRect">
            <a:avLst>
              <a:gd name="adj" fmla="val 1218"/>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pic>
        <p:nvPicPr>
          <p:cNvPr id="5" name="Image 0" descr="Participant · QR tickets, payment and progress">    </p:cNvPr>
          <p:cNvPicPr>
            <a:picLocks noChangeAspect="1"/>
          </p:cNvPicPr>
          <p:nvPr/>
        </p:nvPicPr>
        <p:blipFill>
          <a:blip r:embed="rId1"/>
          <a:stretch>
            <a:fillRect/>
          </a:stretch>
        </p:blipFill>
        <p:spPr>
          <a:xfrm>
            <a:off x="594360" y="1463040"/>
            <a:ext cx="7040880" cy="4432765"/>
          </a:xfrm>
          <a:prstGeom prst="rect">
            <a:avLst/>
          </a:prstGeom>
        </p:spPr>
      </p:pic>
      <p:sp>
        <p:nvSpPr>
          <p:cNvPr id="6" name="caption-chip"/>
          <p:cNvSpPr/>
          <p:nvPr/>
        </p:nvSpPr>
        <p:spPr>
          <a:xfrm>
            <a:off x="731520" y="5438605"/>
            <a:ext cx="3895344" cy="329184"/>
          </a:xfrm>
          <a:prstGeom prst="roundRect">
            <a:avLst>
              <a:gd name="adj" fmla="val 22222"/>
            </a:avLst>
          </a:prstGeom>
          <a:solidFill>
            <a:schemeClr val="tx1"/>
          </a:solidFill>
          <a:ln w="12700">
            <a:solidFill>
              <a:schemeClr val="tx1"/>
            </a:solidFill>
            <a:prstDash val="solid"/>
          </a:ln>
        </p:spPr>
      </p:sp>
      <p:sp>
        <p:nvSpPr>
          <p:cNvPr id="7" name="Text 4"/>
          <p:cNvSpPr txBox="1"/>
          <p:nvPr/>
        </p:nvSpPr>
        <p:spPr>
          <a:xfrm>
            <a:off x="868680" y="5438605"/>
            <a:ext cx="3712464" cy="329184"/>
          </a:xfrm>
          <a:prstGeom prst="rect">
            <a:avLst/>
          </a:prstGeom>
          <a:noFill/>
          <a:ln/>
        </p:spPr>
        <p:txBody>
          <a:bodyPr wrap="square" lIns="0" tIns="0" rIns="0" bIns="0" rtlCol="0" anchor="ctr"/>
          <a:lstStyle/>
          <a:p>
            <a:pPr indent="0" marL="0">
              <a:buNone/>
            </a:pPr>
            <a:r>
              <a:rPr lang="en-US" sz="1100" b="1" dirty="0">
                <a:solidFill>
                  <a:schemeClr val="bg1"/>
                </a:solidFill>
              </a:rPr>
              <a:t>Participant · QR tickets, payment and progress</a:t>
            </a:r>
            <a:endParaRPr lang="en-US" sz="1100" dirty="0"/>
          </a:p>
        </p:txBody>
      </p:sp>
      <p:sp>
        <p:nvSpPr>
          <p:cNvPr id="8" name="screenshot-frame"/>
          <p:cNvSpPr/>
          <p:nvPr/>
        </p:nvSpPr>
        <p:spPr>
          <a:xfrm>
            <a:off x="8055864" y="1426464"/>
            <a:ext cx="3547872" cy="2260750"/>
          </a:xfrm>
          <a:prstGeom prst="roundRect">
            <a:avLst>
              <a:gd name="adj" fmla="val 2427"/>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pic>
        <p:nvPicPr>
          <p:cNvPr id="9" name="Image 1" descr="Home · poster carousel">    </p:cNvPr>
          <p:cNvPicPr>
            <a:picLocks noChangeAspect="1"/>
          </p:cNvPicPr>
          <p:nvPr/>
        </p:nvPicPr>
        <p:blipFill>
          <a:blip r:embed="rId2"/>
          <a:stretch>
            <a:fillRect/>
          </a:stretch>
        </p:blipFill>
        <p:spPr>
          <a:xfrm>
            <a:off x="8092440" y="1463040"/>
            <a:ext cx="3474720" cy="2187598"/>
          </a:xfrm>
          <a:prstGeom prst="rect">
            <a:avLst/>
          </a:prstGeom>
        </p:spPr>
      </p:pic>
      <p:sp>
        <p:nvSpPr>
          <p:cNvPr id="10" name="caption-chip"/>
          <p:cNvSpPr/>
          <p:nvPr/>
        </p:nvSpPr>
        <p:spPr>
          <a:xfrm>
            <a:off x="8229600" y="3193438"/>
            <a:ext cx="2029968" cy="329184"/>
          </a:xfrm>
          <a:prstGeom prst="roundRect">
            <a:avLst>
              <a:gd name="adj" fmla="val 22222"/>
            </a:avLst>
          </a:prstGeom>
          <a:solidFill>
            <a:schemeClr val="tx1"/>
          </a:solidFill>
          <a:ln w="12700">
            <a:solidFill>
              <a:schemeClr val="tx1"/>
            </a:solidFill>
            <a:prstDash val="solid"/>
          </a:ln>
        </p:spPr>
      </p:sp>
      <p:sp>
        <p:nvSpPr>
          <p:cNvPr id="11" name="Text 7"/>
          <p:cNvSpPr txBox="1"/>
          <p:nvPr/>
        </p:nvSpPr>
        <p:spPr>
          <a:xfrm>
            <a:off x="8366760" y="3193438"/>
            <a:ext cx="1847088" cy="329184"/>
          </a:xfrm>
          <a:prstGeom prst="rect">
            <a:avLst/>
          </a:prstGeom>
          <a:noFill/>
          <a:ln/>
        </p:spPr>
        <p:txBody>
          <a:bodyPr wrap="square" lIns="0" tIns="0" rIns="0" bIns="0" rtlCol="0" anchor="ctr"/>
          <a:lstStyle/>
          <a:p>
            <a:pPr indent="0" marL="0">
              <a:buNone/>
            </a:pPr>
            <a:r>
              <a:rPr lang="en-US" sz="1100" b="1" dirty="0">
                <a:solidFill>
                  <a:schemeClr val="bg1"/>
                </a:solidFill>
              </a:rPr>
              <a:t>Home · poster carousel</a:t>
            </a:r>
            <a:endParaRPr lang="en-US" sz="1100" dirty="0"/>
          </a:p>
        </p:txBody>
      </p:sp>
      <p:sp>
        <p:nvSpPr>
          <p:cNvPr id="12" name="screenshot-frame"/>
          <p:cNvSpPr/>
          <p:nvPr/>
        </p:nvSpPr>
        <p:spPr>
          <a:xfrm>
            <a:off x="8055864" y="3895344"/>
            <a:ext cx="3547872" cy="2260750"/>
          </a:xfrm>
          <a:prstGeom prst="roundRect">
            <a:avLst>
              <a:gd name="adj" fmla="val 2427"/>
            </a:avLst>
          </a:prstGeom>
          <a:solidFill>
            <a:schemeClr val="bg1"/>
          </a:solidFill>
          <a:ln w="12700">
            <a:solidFill>
              <a:schemeClr val="accent6"/>
            </a:solidFill>
            <a:prstDash val="solid"/>
          </a:ln>
          <a:effectLst>
            <a:outerShdw sx="100000" sy="100000" kx="0" ky="0" algn="bl" rotWithShape="0" blurRad="76200" dist="25400" dir="5400000">
              <a:srgbClr val="000000">
                <a:alpha val="12000"/>
              </a:srgbClr>
            </a:outerShdw>
          </a:effectLst>
        </p:spPr>
      </p:sp>
      <p:pic>
        <p:nvPicPr>
          <p:cNvPr id="13" name="Image 2" descr="Organizer · event overview">    </p:cNvPr>
          <p:cNvPicPr>
            <a:picLocks noChangeAspect="1"/>
          </p:cNvPicPr>
          <p:nvPr/>
        </p:nvPicPr>
        <p:blipFill>
          <a:blip r:embed="rId3"/>
          <a:stretch>
            <a:fillRect/>
          </a:stretch>
        </p:blipFill>
        <p:spPr>
          <a:xfrm>
            <a:off x="8092440" y="3931920"/>
            <a:ext cx="3474720" cy="2187598"/>
          </a:xfrm>
          <a:prstGeom prst="rect">
            <a:avLst/>
          </a:prstGeom>
        </p:spPr>
      </p:pic>
      <p:sp>
        <p:nvSpPr>
          <p:cNvPr id="14" name="caption-chip"/>
          <p:cNvSpPr/>
          <p:nvPr/>
        </p:nvSpPr>
        <p:spPr>
          <a:xfrm>
            <a:off x="8229600" y="5662318"/>
            <a:ext cx="2340864" cy="329184"/>
          </a:xfrm>
          <a:prstGeom prst="roundRect">
            <a:avLst>
              <a:gd name="adj" fmla="val 22222"/>
            </a:avLst>
          </a:prstGeom>
          <a:solidFill>
            <a:schemeClr val="tx1"/>
          </a:solidFill>
          <a:ln w="12700">
            <a:solidFill>
              <a:schemeClr val="tx1"/>
            </a:solidFill>
            <a:prstDash val="solid"/>
          </a:ln>
        </p:spPr>
      </p:sp>
      <p:sp>
        <p:nvSpPr>
          <p:cNvPr id="15" name="Text 10"/>
          <p:cNvSpPr txBox="1"/>
          <p:nvPr/>
        </p:nvSpPr>
        <p:spPr>
          <a:xfrm>
            <a:off x="8366760" y="5662318"/>
            <a:ext cx="2157984" cy="329184"/>
          </a:xfrm>
          <a:prstGeom prst="rect">
            <a:avLst/>
          </a:prstGeom>
          <a:noFill/>
          <a:ln/>
        </p:spPr>
        <p:txBody>
          <a:bodyPr wrap="square" lIns="0" tIns="0" rIns="0" bIns="0" rtlCol="0" anchor="ctr"/>
          <a:lstStyle/>
          <a:p>
            <a:pPr indent="0" marL="0">
              <a:buNone/>
            </a:pPr>
            <a:r>
              <a:rPr lang="en-US" sz="1100" b="1" dirty="0">
                <a:solidFill>
                  <a:schemeClr val="bg1"/>
                </a:solidFill>
              </a:rPr>
              <a:t>Organizer · event overview</a:t>
            </a:r>
            <a:endParaRPr lang="en-US" sz="1100" dirty="0"/>
          </a:p>
        </p:txBody>
      </p:sp>
      <p:sp>
        <p:nvSpPr>
          <p:cNvPr id="16" name="Text 11"/>
          <p:cNvSpPr txBox="1"/>
          <p:nvPr/>
        </p:nvSpPr>
        <p:spPr>
          <a:xfrm>
            <a:off x="594360" y="5989320"/>
            <a:ext cx="7040880" cy="274320"/>
          </a:xfrm>
          <a:prstGeom prst="rect">
            <a:avLst/>
          </a:prstGeom>
          <a:noFill/>
          <a:ln/>
        </p:spPr>
        <p:txBody>
          <a:bodyPr wrap="square" lIns="0" tIns="0" rIns="0" bIns="0" rtlCol="0" anchor="t"/>
          <a:lstStyle/>
          <a:p>
            <a:pPr indent="0" marL="0">
              <a:buNone/>
            </a:pPr>
            <a:r>
              <a:rPr lang="en-US" sz="1000" i="1" dirty="0">
                <a:solidFill>
                  <a:schemeClr val="accent3"/>
                </a:solidFill>
              </a:rPr>
              <a:t>Screens captured from the running application on 15 Oct 2026 using fictional demonstration accounts.</a:t>
            </a:r>
            <a:endParaRPr lang="en-US" sz="10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TESTING &amp; RESULTS</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Evidence, reported exactly as executed</a:t>
            </a:r>
            <a:endParaRPr lang="en-US" sz="3000" dirty="0"/>
          </a:p>
        </p:txBody>
      </p:sp>
      <p:sp>
        <p:nvSpPr>
          <p:cNvPr id="4" name="card"/>
          <p:cNvSpPr/>
          <p:nvPr/>
        </p:nvSpPr>
        <p:spPr>
          <a:xfrm>
            <a:off x="548640" y="1463040"/>
            <a:ext cx="2606040" cy="1874520"/>
          </a:xfrm>
          <a:prstGeom prst="roundRect">
            <a:avLst>
              <a:gd name="adj" fmla="val 4878"/>
            </a:avLst>
          </a:prstGeom>
          <a:solidFill>
            <a:schemeClr val="bg2"/>
          </a:solidFill>
          <a:ln w="9525">
            <a:solidFill>
              <a:schemeClr val="bg2"/>
            </a:solidFill>
            <a:prstDash val="solid"/>
          </a:ln>
        </p:spPr>
      </p:sp>
      <p:sp>
        <p:nvSpPr>
          <p:cNvPr id="5" name="Text 3"/>
          <p:cNvSpPr txBox="1"/>
          <p:nvPr/>
        </p:nvSpPr>
        <p:spPr>
          <a:xfrm>
            <a:off x="777240" y="1600200"/>
            <a:ext cx="2194560"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63 / 63</a:t>
            </a:r>
            <a:endParaRPr lang="en-US" sz="4000" dirty="0"/>
          </a:p>
        </p:txBody>
      </p:sp>
      <p:sp>
        <p:nvSpPr>
          <p:cNvPr id="6" name="Text 4"/>
          <p:cNvSpPr txBox="1"/>
          <p:nvPr/>
        </p:nvSpPr>
        <p:spPr>
          <a:xfrm>
            <a:off x="777240" y="2395728"/>
            <a:ext cx="2194560" cy="320040"/>
          </a:xfrm>
          <a:prstGeom prst="rect">
            <a:avLst/>
          </a:prstGeom>
          <a:noFill/>
          <a:ln/>
        </p:spPr>
        <p:txBody>
          <a:bodyPr wrap="square" lIns="0" tIns="0" rIns="0" bIns="0" rtlCol="0" anchor="t"/>
          <a:lstStyle/>
          <a:p>
            <a:pPr indent="0" marL="0">
              <a:buNone/>
            </a:pPr>
            <a:r>
              <a:rPr lang="en-US" sz="1400" b="1" dirty="0">
                <a:solidFill>
                  <a:schemeClr val="tx1"/>
                </a:solidFill>
              </a:rPr>
              <a:t>unit tests passed</a:t>
            </a:r>
            <a:endParaRPr lang="en-US" sz="1400" dirty="0"/>
          </a:p>
        </p:txBody>
      </p:sp>
      <p:sp>
        <p:nvSpPr>
          <p:cNvPr id="7" name="Text 5"/>
          <p:cNvSpPr txBox="1"/>
          <p:nvPr/>
        </p:nvSpPr>
        <p:spPr>
          <a:xfrm>
            <a:off x="777240" y="2724912"/>
            <a:ext cx="2240280" cy="502920"/>
          </a:xfrm>
          <a:prstGeom prst="rect">
            <a:avLst/>
          </a:prstGeom>
          <a:noFill/>
          <a:ln/>
        </p:spPr>
        <p:txBody>
          <a:bodyPr wrap="square" lIns="0" tIns="0" rIns="0" bIns="0" rtlCol="0" anchor="t"/>
          <a:lstStyle/>
          <a:p>
            <a:pPr indent="0" marL="0">
              <a:buNone/>
            </a:pPr>
            <a:r>
              <a:rPr lang="en-US" sz="1100" dirty="0">
                <a:solidFill>
                  <a:schemeClr val="accent3"/>
                </a:solidFill>
              </a:rPr>
              <a:t>15 Oct 2026, current code</a:t>
            </a:r>
            <a:endParaRPr lang="en-US" sz="1100" dirty="0"/>
          </a:p>
        </p:txBody>
      </p:sp>
      <p:sp>
        <p:nvSpPr>
          <p:cNvPr id="8" name="card"/>
          <p:cNvSpPr/>
          <p:nvPr/>
        </p:nvSpPr>
        <p:spPr>
          <a:xfrm>
            <a:off x="3355848" y="1463040"/>
            <a:ext cx="2606040" cy="1874520"/>
          </a:xfrm>
          <a:prstGeom prst="roundRect">
            <a:avLst>
              <a:gd name="adj" fmla="val 4878"/>
            </a:avLst>
          </a:prstGeom>
          <a:solidFill>
            <a:schemeClr val="bg2"/>
          </a:solidFill>
          <a:ln w="9525">
            <a:solidFill>
              <a:schemeClr val="bg2"/>
            </a:solidFill>
            <a:prstDash val="solid"/>
          </a:ln>
        </p:spPr>
      </p:sp>
      <p:sp>
        <p:nvSpPr>
          <p:cNvPr id="9" name="Text 7"/>
          <p:cNvSpPr txBox="1"/>
          <p:nvPr/>
        </p:nvSpPr>
        <p:spPr>
          <a:xfrm>
            <a:off x="3584448" y="1600200"/>
            <a:ext cx="2194560"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a:t>
            </a:r>
            <a:endParaRPr lang="en-US" sz="4000" dirty="0"/>
          </a:p>
        </p:txBody>
      </p:sp>
      <p:sp>
        <p:nvSpPr>
          <p:cNvPr id="10" name="Text 8"/>
          <p:cNvSpPr txBox="1"/>
          <p:nvPr/>
        </p:nvSpPr>
        <p:spPr>
          <a:xfrm>
            <a:off x="3584448" y="2395728"/>
            <a:ext cx="2194560" cy="320040"/>
          </a:xfrm>
          <a:prstGeom prst="rect">
            <a:avLst/>
          </a:prstGeom>
          <a:noFill/>
          <a:ln/>
        </p:spPr>
        <p:txBody>
          <a:bodyPr wrap="square" lIns="0" tIns="0" rIns="0" bIns="0" rtlCol="0" anchor="t"/>
          <a:lstStyle/>
          <a:p>
            <a:pPr indent="0" marL="0">
              <a:buNone/>
            </a:pPr>
            <a:r>
              <a:rPr lang="en-US" sz="1400" b="1" dirty="0">
                <a:solidFill>
                  <a:schemeClr val="tx1"/>
                </a:solidFill>
              </a:rPr>
              <a:t>type and lint errors</a:t>
            </a:r>
            <a:endParaRPr lang="en-US" sz="1400" dirty="0"/>
          </a:p>
        </p:txBody>
      </p:sp>
      <p:sp>
        <p:nvSpPr>
          <p:cNvPr id="11" name="Text 9"/>
          <p:cNvSpPr txBox="1"/>
          <p:nvPr/>
        </p:nvSpPr>
        <p:spPr>
          <a:xfrm>
            <a:off x="3584448" y="2724912"/>
            <a:ext cx="2240280" cy="502920"/>
          </a:xfrm>
          <a:prstGeom prst="rect">
            <a:avLst/>
          </a:prstGeom>
          <a:noFill/>
          <a:ln/>
        </p:spPr>
        <p:txBody>
          <a:bodyPr wrap="square" lIns="0" tIns="0" rIns="0" bIns="0" rtlCol="0" anchor="t"/>
          <a:lstStyle/>
          <a:p>
            <a:pPr indent="0" marL="0">
              <a:buNone/>
            </a:pPr>
            <a:r>
              <a:rPr lang="en-US" sz="1100" dirty="0">
                <a:solidFill>
                  <a:schemeClr val="accent3"/>
                </a:solidFill>
              </a:rPr>
              <a:t>tsc --noEmit · ESLint</a:t>
            </a:r>
            <a:endParaRPr lang="en-US" sz="1100" dirty="0"/>
          </a:p>
        </p:txBody>
      </p:sp>
      <p:sp>
        <p:nvSpPr>
          <p:cNvPr id="12" name="card"/>
          <p:cNvSpPr/>
          <p:nvPr/>
        </p:nvSpPr>
        <p:spPr>
          <a:xfrm>
            <a:off x="6163056" y="1463040"/>
            <a:ext cx="2606040" cy="1874520"/>
          </a:xfrm>
          <a:prstGeom prst="roundRect">
            <a:avLst>
              <a:gd name="adj" fmla="val 4878"/>
            </a:avLst>
          </a:prstGeom>
          <a:solidFill>
            <a:schemeClr val="bg2"/>
          </a:solidFill>
          <a:ln w="9525">
            <a:solidFill>
              <a:schemeClr val="bg2"/>
            </a:solidFill>
            <a:prstDash val="solid"/>
          </a:ln>
        </p:spPr>
      </p:sp>
      <p:sp>
        <p:nvSpPr>
          <p:cNvPr id="13" name="Text 11"/>
          <p:cNvSpPr txBox="1"/>
          <p:nvPr/>
        </p:nvSpPr>
        <p:spPr>
          <a:xfrm>
            <a:off x="6391656" y="1600200"/>
            <a:ext cx="2194560"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46</a:t>
            </a:r>
            <a:endParaRPr lang="en-US" sz="4000" dirty="0"/>
          </a:p>
        </p:txBody>
      </p:sp>
      <p:sp>
        <p:nvSpPr>
          <p:cNvPr id="14" name="Text 12"/>
          <p:cNvSpPr txBox="1"/>
          <p:nvPr/>
        </p:nvSpPr>
        <p:spPr>
          <a:xfrm>
            <a:off x="6391656" y="2395728"/>
            <a:ext cx="2194560" cy="320040"/>
          </a:xfrm>
          <a:prstGeom prst="rect">
            <a:avLst/>
          </a:prstGeom>
          <a:noFill/>
          <a:ln/>
        </p:spPr>
        <p:txBody>
          <a:bodyPr wrap="square" lIns="0" tIns="0" rIns="0" bIns="0" rtlCol="0" anchor="t"/>
          <a:lstStyle/>
          <a:p>
            <a:pPr indent="0" marL="0">
              <a:buNone/>
            </a:pPr>
            <a:r>
              <a:rPr lang="en-US" sz="1400" b="1" dirty="0">
                <a:solidFill>
                  <a:schemeClr val="tx1"/>
                </a:solidFill>
              </a:rPr>
              <a:t>routes built</a:t>
            </a:r>
            <a:endParaRPr lang="en-US" sz="1400" dirty="0"/>
          </a:p>
        </p:txBody>
      </p:sp>
      <p:sp>
        <p:nvSpPr>
          <p:cNvPr id="15" name="Text 13"/>
          <p:cNvSpPr txBox="1"/>
          <p:nvPr/>
        </p:nvSpPr>
        <p:spPr>
          <a:xfrm>
            <a:off x="6391656" y="2724912"/>
            <a:ext cx="2240280" cy="502920"/>
          </a:xfrm>
          <a:prstGeom prst="rect">
            <a:avLst/>
          </a:prstGeom>
          <a:noFill/>
          <a:ln/>
        </p:spPr>
        <p:txBody>
          <a:bodyPr wrap="square" lIns="0" tIns="0" rIns="0" bIns="0" rtlCol="0" anchor="t"/>
          <a:lstStyle/>
          <a:p>
            <a:pPr indent="0" marL="0">
              <a:buNone/>
            </a:pPr>
            <a:r>
              <a:rPr lang="en-US" sz="1100" dirty="0">
                <a:solidFill>
                  <a:schemeClr val="accent3"/>
                </a:solidFill>
              </a:rPr>
              <a:t>production build succeeded</a:t>
            </a:r>
            <a:endParaRPr lang="en-US" sz="1100" dirty="0"/>
          </a:p>
        </p:txBody>
      </p:sp>
      <p:sp>
        <p:nvSpPr>
          <p:cNvPr id="16" name="card"/>
          <p:cNvSpPr/>
          <p:nvPr/>
        </p:nvSpPr>
        <p:spPr>
          <a:xfrm>
            <a:off x="8970264" y="1463040"/>
            <a:ext cx="2606040" cy="1874520"/>
          </a:xfrm>
          <a:prstGeom prst="roundRect">
            <a:avLst>
              <a:gd name="adj" fmla="val 4878"/>
            </a:avLst>
          </a:prstGeom>
          <a:solidFill>
            <a:schemeClr val="bg2"/>
          </a:solidFill>
          <a:ln w="9525">
            <a:solidFill>
              <a:schemeClr val="bg2"/>
            </a:solidFill>
            <a:prstDash val="solid"/>
          </a:ln>
        </p:spPr>
      </p:sp>
      <p:sp>
        <p:nvSpPr>
          <p:cNvPr id="17" name="Text 15"/>
          <p:cNvSpPr txBox="1"/>
          <p:nvPr/>
        </p:nvSpPr>
        <p:spPr>
          <a:xfrm>
            <a:off x="9198864" y="1600200"/>
            <a:ext cx="2194560" cy="7772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39 / 39</a:t>
            </a:r>
            <a:endParaRPr lang="en-US" sz="4000" dirty="0"/>
          </a:p>
        </p:txBody>
      </p:sp>
      <p:sp>
        <p:nvSpPr>
          <p:cNvPr id="18" name="Text 16"/>
          <p:cNvSpPr txBox="1"/>
          <p:nvPr/>
        </p:nvSpPr>
        <p:spPr>
          <a:xfrm>
            <a:off x="9198864" y="2395728"/>
            <a:ext cx="2194560" cy="320040"/>
          </a:xfrm>
          <a:prstGeom prst="rect">
            <a:avLst/>
          </a:prstGeom>
          <a:noFill/>
          <a:ln/>
        </p:spPr>
        <p:txBody>
          <a:bodyPr wrap="square" lIns="0" tIns="0" rIns="0" bIns="0" rtlCol="0" anchor="t"/>
          <a:lstStyle/>
          <a:p>
            <a:pPr indent="0" marL="0">
              <a:buNone/>
            </a:pPr>
            <a:r>
              <a:rPr lang="en-US" sz="1400" b="1" dirty="0">
                <a:solidFill>
                  <a:schemeClr val="tx1"/>
                </a:solidFill>
              </a:rPr>
              <a:t>ticket tiers consistent</a:t>
            </a:r>
            <a:endParaRPr lang="en-US" sz="1400" dirty="0"/>
          </a:p>
        </p:txBody>
      </p:sp>
      <p:sp>
        <p:nvSpPr>
          <p:cNvPr id="19" name="Text 17"/>
          <p:cNvSpPr txBox="1"/>
          <p:nvPr/>
        </p:nvSpPr>
        <p:spPr>
          <a:xfrm>
            <a:off x="9198864" y="2724912"/>
            <a:ext cx="2240280" cy="502920"/>
          </a:xfrm>
          <a:prstGeom prst="rect">
            <a:avLst/>
          </a:prstGeom>
          <a:noFill/>
          <a:ln/>
        </p:spPr>
        <p:txBody>
          <a:bodyPr wrap="square" lIns="0" tIns="0" rIns="0" bIns="0" rtlCol="0" anchor="t"/>
          <a:lstStyle/>
          <a:p>
            <a:pPr indent="0" marL="0">
              <a:buNone/>
            </a:pPr>
            <a:r>
              <a:rPr lang="en-US" sz="1100" dirty="0">
                <a:solidFill>
                  <a:schemeClr val="accent3"/>
                </a:solidFill>
              </a:rPr>
              <a:t>allocated = seats in live bookings</a:t>
            </a:r>
            <a:endParaRPr lang="en-US" sz="1100" dirty="0"/>
          </a:p>
        </p:txBody>
      </p:sp>
      <p:sp>
        <p:nvSpPr>
          <p:cNvPr id="20" name="card"/>
          <p:cNvSpPr/>
          <p:nvPr/>
        </p:nvSpPr>
        <p:spPr>
          <a:xfrm>
            <a:off x="548640" y="3566160"/>
            <a:ext cx="6583680" cy="2606040"/>
          </a:xfrm>
          <a:prstGeom prst="roundRect">
            <a:avLst>
              <a:gd name="adj" fmla="val 3509"/>
            </a:avLst>
          </a:prstGeom>
          <a:solidFill>
            <a:schemeClr val="bg1"/>
          </a:solidFill>
          <a:ln w="12700">
            <a:solidFill>
              <a:schemeClr val="accent6"/>
            </a:solidFill>
            <a:prstDash val="solid"/>
          </a:ln>
        </p:spPr>
      </p:sp>
      <p:sp>
        <p:nvSpPr>
          <p:cNvPr id="21" name="Text 19"/>
          <p:cNvSpPr txBox="1"/>
          <p:nvPr/>
        </p:nvSpPr>
        <p:spPr>
          <a:xfrm>
            <a:off x="822960" y="3730752"/>
            <a:ext cx="621792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CONCURRENCY &amp; ACCESS-CONTROL EVIDENCE  ·  QA RUN, 14 OCT 2026</a:t>
            </a:r>
            <a:endParaRPr lang="en-US" sz="1100" dirty="0"/>
          </a:p>
        </p:txBody>
      </p:sp>
      <p:sp>
        <p:nvSpPr>
          <p:cNvPr id="22" name="Text 20"/>
          <p:cNvSpPr txBox="1"/>
          <p:nvPr/>
        </p:nvSpPr>
        <p:spPr>
          <a:xfrm>
            <a:off x="822960" y="4069080"/>
            <a:ext cx="6126480" cy="20116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chemeClr val="tx2"/>
                </a:solidFill>
              </a:rPr>
              <a:t>94 / 94 Vitest tests (41 unit + 53 integration) and 26 / 26 Playwright runs passed</a:t>
            </a:r>
            <a:endParaRPr lang="en-US" sz="1350" dirty="0"/>
          </a:p>
          <a:p>
            <a:pPr marL="177800" indent="-177800">
              <a:spcAft>
                <a:spcPts val="600"/>
              </a:spcAft>
              <a:buSzPct val="100000"/>
              <a:buChar char="•"/>
            </a:pPr>
            <a:r>
              <a:rPr lang="en-US" sz="1350" dirty="0">
                <a:solidFill>
                  <a:schemeClr val="tx2"/>
                </a:solidFill>
              </a:rPr>
              <a:t>20 concurrent buyers for 5 seats: exactly 5 bookings succeeded</a:t>
            </a:r>
            <a:endParaRPr lang="en-US" sz="1350" dirty="0"/>
          </a:p>
          <a:p>
            <a:pPr marL="177800" indent="-177800">
              <a:spcAft>
                <a:spcPts val="600"/>
              </a:spcAft>
              <a:buSzPct val="100000"/>
              <a:buChar char="•"/>
            </a:pPr>
            <a:r>
              <a:rPr lang="en-US" sz="1350" dirty="0">
                <a:solidFill>
                  <a:schemeClr val="tx2"/>
                </a:solidFill>
              </a:rPr>
              <a:t>4 simultaneous scans by two moderators: exactly 1 check-in</a:t>
            </a:r>
            <a:endParaRPr lang="en-US" sz="1350" dirty="0"/>
          </a:p>
          <a:p>
            <a:pPr marL="177800" indent="-177800">
              <a:spcAft>
                <a:spcPts val="600"/>
              </a:spcAft>
              <a:buSzPct val="100000"/>
              <a:buChar char="•"/>
            </a:pPr>
            <a:r>
              <a:rPr lang="en-US" sz="1350" dirty="0">
                <a:solidFill>
                  <a:schemeClr val="tx2"/>
                </a:solidFill>
              </a:rPr>
              <a:t>Checkout callback racing two webhooks: exactly 1 confirmation</a:t>
            </a:r>
            <a:endParaRPr lang="en-US" sz="1350" dirty="0"/>
          </a:p>
          <a:p>
            <a:pPr marL="177800" indent="-177800">
              <a:buSzPct val="100000"/>
              <a:buChar char="•"/>
            </a:pPr>
            <a:r>
              <a:rPr lang="en-US" sz="1350" dirty="0">
                <a:solidFill>
                  <a:schemeClr val="tx2"/>
                </a:solidFill>
              </a:rPr>
              <a:t>QA found and fixed 2 critical defects that let users claim SRM membership</a:t>
            </a:r>
            <a:endParaRPr lang="en-US" sz="1350" dirty="0"/>
          </a:p>
        </p:txBody>
      </p:sp>
      <p:sp>
        <p:nvSpPr>
          <p:cNvPr id="23" name="card"/>
          <p:cNvSpPr/>
          <p:nvPr/>
        </p:nvSpPr>
        <p:spPr>
          <a:xfrm>
            <a:off x="7360920" y="3566160"/>
            <a:ext cx="4279392" cy="2606040"/>
          </a:xfrm>
          <a:prstGeom prst="roundRect">
            <a:avLst>
              <a:gd name="adj" fmla="val 3509"/>
            </a:avLst>
          </a:prstGeom>
          <a:solidFill>
            <a:schemeClr val="tx1"/>
          </a:solidFill>
          <a:ln w="9525">
            <a:solidFill>
              <a:schemeClr val="tx1"/>
            </a:solidFill>
            <a:prstDash val="solid"/>
          </a:ln>
        </p:spPr>
      </p:sp>
      <p:sp>
        <p:nvSpPr>
          <p:cNvPr id="24" name="icon-circle"/>
          <p:cNvSpPr/>
          <p:nvPr/>
        </p:nvSpPr>
        <p:spPr>
          <a:xfrm>
            <a:off x="7635240" y="3794760"/>
            <a:ext cx="411480" cy="411480"/>
          </a:xfrm>
          <a:prstGeom prst="ellipse">
            <a:avLst/>
          </a:prstGeom>
          <a:solidFill>
            <a:schemeClr val="accent4"/>
          </a:solidFill>
          <a:ln w="12700">
            <a:solidFill>
              <a:schemeClr val="accent4"/>
            </a:solidFill>
            <a:prstDash val="solid"/>
          </a:ln>
        </p:spPr>
      </p:sp>
      <p:pic>
        <p:nvPicPr>
          <p:cNvPr id="25" name="Image 0" descr="LuTriangleAlert">    </p:cNvPr>
          <p:cNvPicPr>
            <a:picLocks noChangeAspect="1"/>
          </p:cNvPicPr>
          <p:nvPr/>
        </p:nvPicPr>
        <p:blipFill>
          <a:blip r:embed="rId1"/>
          <a:stretch>
            <a:fillRect/>
          </a:stretch>
        </p:blipFill>
        <p:spPr>
          <a:xfrm>
            <a:off x="7733995" y="3893515"/>
            <a:ext cx="213970" cy="213970"/>
          </a:xfrm>
          <a:prstGeom prst="rect">
            <a:avLst/>
          </a:prstGeom>
        </p:spPr>
      </p:pic>
      <p:sp>
        <p:nvSpPr>
          <p:cNvPr id="26" name="Text 23"/>
          <p:cNvSpPr txBox="1"/>
          <p:nvPr/>
        </p:nvSpPr>
        <p:spPr>
          <a:xfrm>
            <a:off x="8183880" y="3822192"/>
            <a:ext cx="3291840" cy="365760"/>
          </a:xfrm>
          <a:prstGeom prst="rect">
            <a:avLst/>
          </a:prstGeom>
          <a:noFill/>
          <a:ln/>
        </p:spPr>
        <p:txBody>
          <a:bodyPr wrap="square" lIns="0" tIns="0" rIns="0" bIns="0" rtlCol="0" anchor="ctr"/>
          <a:lstStyle/>
          <a:p>
            <a:pPr indent="0" marL="0">
              <a:buNone/>
            </a:pPr>
            <a:r>
              <a:rPr lang="en-US" sz="1400" b="1" dirty="0">
                <a:solidFill>
                  <a:schemeClr val="bg1"/>
                </a:solidFill>
              </a:rPr>
              <a:t>Not yet re-run on current code</a:t>
            </a:r>
            <a:endParaRPr lang="en-US" sz="1400" dirty="0"/>
          </a:p>
        </p:txBody>
      </p:sp>
      <p:sp>
        <p:nvSpPr>
          <p:cNvPr id="27" name="Text 24"/>
          <p:cNvSpPr txBox="1"/>
          <p:nvPr/>
        </p:nvSpPr>
        <p:spPr>
          <a:xfrm>
            <a:off x="7635240" y="4389120"/>
            <a:ext cx="3794760" cy="1645920"/>
          </a:xfrm>
          <a:prstGeom prst="rect">
            <a:avLst/>
          </a:prstGeom>
          <a:noFill/>
          <a:ln/>
        </p:spPr>
        <p:txBody>
          <a:bodyPr wrap="square" lIns="0" tIns="0" rIns="0" bIns="0" rtlCol="0" anchor="t"/>
          <a:lstStyle/>
          <a:p>
            <a:pPr indent="0" marL="0">
              <a:buNone/>
            </a:pPr>
            <a:r>
              <a:rPr lang="en-US" sz="1400" dirty="0">
                <a:solidFill>
                  <a:schemeClr val="accent6"/>
                </a:solidFill>
              </a:rPr>
              <a:t>The 53 integration and 24 end-to-end tests need a dedicated Supabase test project, not yet created. The 14 Oct results above came from an earlier local stack that has since been removed.</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CONCLUSION &amp; FUTURE ENHANCEMENTS</a:t>
            </a:r>
            <a:endParaRPr lang="en-US" sz="11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rules of an event belong in the server and the database</a:t>
            </a:r>
            <a:endParaRPr lang="en-US" sz="3000" dirty="0"/>
          </a:p>
        </p:txBody>
      </p:sp>
      <p:sp>
        <p:nvSpPr>
          <p:cNvPr id="4" name="card"/>
          <p:cNvSpPr/>
          <p:nvPr/>
        </p:nvSpPr>
        <p:spPr>
          <a:xfrm>
            <a:off x="548640" y="1463040"/>
            <a:ext cx="5394960" cy="4709160"/>
          </a:xfrm>
          <a:prstGeom prst="roundRect">
            <a:avLst>
              <a:gd name="adj" fmla="val 1942"/>
            </a:avLst>
          </a:prstGeom>
          <a:solidFill>
            <a:schemeClr val="tx1"/>
          </a:solidFill>
          <a:ln w="9525">
            <a:solidFill>
              <a:schemeClr val="tx1"/>
            </a:solidFill>
            <a:prstDash val="solid"/>
          </a:ln>
        </p:spPr>
      </p:sp>
      <p:sp>
        <p:nvSpPr>
          <p:cNvPr id="5" name="Text 3"/>
          <p:cNvSpPr txBox="1"/>
          <p:nvPr/>
        </p:nvSpPr>
        <p:spPr>
          <a:xfrm>
            <a:off x="868680" y="1719072"/>
            <a:ext cx="45720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CONCLUSION</a:t>
            </a:r>
            <a:endParaRPr lang="en-US" sz="1100" dirty="0"/>
          </a:p>
        </p:txBody>
      </p:sp>
      <p:sp>
        <p:nvSpPr>
          <p:cNvPr id="6" name="Text 4"/>
          <p:cNvSpPr txBox="1"/>
          <p:nvPr/>
        </p:nvSpPr>
        <p:spPr>
          <a:xfrm>
            <a:off x="868680" y="2148840"/>
            <a:ext cx="4800600" cy="38404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700" dirty="0">
                <a:solidFill>
                  <a:schemeClr val="bg1"/>
                </a:solidFill>
              </a:rPr>
              <a:t>EventDeck enforces seat limits, audience rules, per-person limits and single admission in the server and the database, not by hand.</a:t>
            </a:r>
            <a:endParaRPr lang="en-US" sz="1700" dirty="0"/>
          </a:p>
          <a:p>
            <a:pPr marL="177800" indent="-177800">
              <a:lnSpc>
                <a:spcPct val="110000"/>
              </a:lnSpc>
              <a:spcAft>
                <a:spcPts val="1000"/>
              </a:spcAft>
              <a:buSzPct val="100000"/>
              <a:buChar char="•"/>
            </a:pPr>
            <a:r>
              <a:rPr lang="en-US" sz="1700" dirty="0">
                <a:solidFill>
                  <a:schemeClr val="bg1"/>
                </a:solidFill>
              </a:rPr>
              <a:t>Organizers, moderators and administrators get the tools a university needs, from publication and payments to refunds, payouts and audit.</a:t>
            </a:r>
            <a:endParaRPr lang="en-US" sz="1700" dirty="0"/>
          </a:p>
          <a:p>
            <a:pPr marL="177800" indent="-177800">
              <a:lnSpc>
                <a:spcPct val="110000"/>
              </a:lnSpc>
              <a:buSzPct val="100000"/>
              <a:buChar char="•"/>
            </a:pPr>
            <a:r>
              <a:rPr lang="en-US" sz="1700" dirty="0">
                <a:solidFill>
                  <a:schemeClr val="bg1"/>
                </a:solidFill>
              </a:rPr>
              <a:t>Testing against a real database exposed defects that unit tests alone would have missed.</a:t>
            </a:r>
            <a:endParaRPr lang="en-US" sz="1700" dirty="0"/>
          </a:p>
        </p:txBody>
      </p:sp>
      <p:sp>
        <p:nvSpPr>
          <p:cNvPr id="7" name="Text 5"/>
          <p:cNvSpPr txBox="1"/>
          <p:nvPr/>
        </p:nvSpPr>
        <p:spPr>
          <a:xfrm>
            <a:off x="6309360" y="1481328"/>
            <a:ext cx="45720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FUTURE ENHANCEMENTS</a:t>
            </a:r>
            <a:endParaRPr lang="en-US" sz="1100" dirty="0"/>
          </a:p>
        </p:txBody>
      </p:sp>
      <p:sp>
        <p:nvSpPr>
          <p:cNvPr id="8" name="icon-circle"/>
          <p:cNvSpPr/>
          <p:nvPr/>
        </p:nvSpPr>
        <p:spPr>
          <a:xfrm>
            <a:off x="6309360" y="1874520"/>
            <a:ext cx="420624" cy="420624"/>
          </a:xfrm>
          <a:prstGeom prst="ellipse">
            <a:avLst/>
          </a:prstGeom>
          <a:solidFill>
            <a:schemeClr val="bg2"/>
          </a:solidFill>
          <a:ln w="12700">
            <a:solidFill>
              <a:schemeClr val="bg2"/>
            </a:solidFill>
            <a:prstDash val="solid"/>
          </a:ln>
        </p:spPr>
      </p:sp>
      <p:pic>
        <p:nvPicPr>
          <p:cNvPr id="9" name="Image 0" descr="LuFlaskConical">    </p:cNvPr>
          <p:cNvPicPr>
            <a:picLocks noChangeAspect="1"/>
          </p:cNvPicPr>
          <p:nvPr/>
        </p:nvPicPr>
        <p:blipFill>
          <a:blip r:embed="rId1"/>
          <a:stretch>
            <a:fillRect/>
          </a:stretch>
        </p:blipFill>
        <p:spPr>
          <a:xfrm>
            <a:off x="6410310" y="1975470"/>
            <a:ext cx="218724" cy="218724"/>
          </a:xfrm>
          <a:prstGeom prst="rect">
            <a:avLst/>
          </a:prstGeom>
        </p:spPr>
      </p:pic>
      <p:sp>
        <p:nvSpPr>
          <p:cNvPr id="10" name="Text 7"/>
          <p:cNvSpPr txBox="1"/>
          <p:nvPr/>
        </p:nvSpPr>
        <p:spPr>
          <a:xfrm>
            <a:off x="6903720" y="1874520"/>
            <a:ext cx="4709160" cy="420624"/>
          </a:xfrm>
          <a:prstGeom prst="rect">
            <a:avLst/>
          </a:prstGeom>
          <a:noFill/>
          <a:ln/>
        </p:spPr>
        <p:txBody>
          <a:bodyPr wrap="square" lIns="0" tIns="0" rIns="0" bIns="0" rtlCol="0" anchor="ctr"/>
          <a:lstStyle/>
          <a:p>
            <a:pPr indent="0" marL="0">
              <a:buNone/>
            </a:pPr>
            <a:r>
              <a:rPr lang="en-US" sz="1350" dirty="0">
                <a:solidFill>
                  <a:schemeClr val="tx1"/>
                </a:solidFill>
              </a:rPr>
              <a:t>Re-run integration and E2E suites on a dedicated test project</a:t>
            </a:r>
            <a:endParaRPr lang="en-US" sz="1350" dirty="0"/>
          </a:p>
        </p:txBody>
      </p:sp>
      <p:sp>
        <p:nvSpPr>
          <p:cNvPr id="11" name="icon-circle"/>
          <p:cNvSpPr/>
          <p:nvPr/>
        </p:nvSpPr>
        <p:spPr>
          <a:xfrm>
            <a:off x="6309360" y="2587752"/>
            <a:ext cx="420624" cy="420624"/>
          </a:xfrm>
          <a:prstGeom prst="ellipse">
            <a:avLst/>
          </a:prstGeom>
          <a:solidFill>
            <a:schemeClr val="bg2"/>
          </a:solidFill>
          <a:ln w="12700">
            <a:solidFill>
              <a:schemeClr val="bg2"/>
            </a:solidFill>
            <a:prstDash val="solid"/>
          </a:ln>
        </p:spPr>
      </p:sp>
      <p:pic>
        <p:nvPicPr>
          <p:cNvPr id="12" name="Image 1" descr="LuListOrdered">    </p:cNvPr>
          <p:cNvPicPr>
            <a:picLocks noChangeAspect="1"/>
          </p:cNvPicPr>
          <p:nvPr/>
        </p:nvPicPr>
        <p:blipFill>
          <a:blip r:embed="rId2"/>
          <a:stretch>
            <a:fillRect/>
          </a:stretch>
        </p:blipFill>
        <p:spPr>
          <a:xfrm>
            <a:off x="6410310" y="2688702"/>
            <a:ext cx="218724" cy="218724"/>
          </a:xfrm>
          <a:prstGeom prst="rect">
            <a:avLst/>
          </a:prstGeom>
        </p:spPr>
      </p:pic>
      <p:sp>
        <p:nvSpPr>
          <p:cNvPr id="13" name="Text 9"/>
          <p:cNvSpPr txBox="1"/>
          <p:nvPr/>
        </p:nvSpPr>
        <p:spPr>
          <a:xfrm>
            <a:off x="6903720" y="2587752"/>
            <a:ext cx="4709160" cy="420624"/>
          </a:xfrm>
          <a:prstGeom prst="rect">
            <a:avLst/>
          </a:prstGeom>
          <a:noFill/>
          <a:ln/>
        </p:spPr>
        <p:txBody>
          <a:bodyPr wrap="square" lIns="0" tIns="0" rIns="0" bIns="0" rtlCol="0" anchor="ctr"/>
          <a:lstStyle/>
          <a:p>
            <a:pPr indent="0" marL="0">
              <a:buNone/>
            </a:pPr>
            <a:r>
              <a:rPr lang="en-US" sz="1350" dirty="0">
                <a:solidFill>
                  <a:schemeClr val="tx1"/>
                </a:solidFill>
              </a:rPr>
              <a:t>Waiting lists for sold-out tiers</a:t>
            </a:r>
            <a:endParaRPr lang="en-US" sz="1350" dirty="0"/>
          </a:p>
        </p:txBody>
      </p:sp>
      <p:sp>
        <p:nvSpPr>
          <p:cNvPr id="14" name="icon-circle"/>
          <p:cNvSpPr/>
          <p:nvPr/>
        </p:nvSpPr>
        <p:spPr>
          <a:xfrm>
            <a:off x="6309360" y="3300984"/>
            <a:ext cx="420624" cy="420624"/>
          </a:xfrm>
          <a:prstGeom prst="ellipse">
            <a:avLst/>
          </a:prstGeom>
          <a:solidFill>
            <a:schemeClr val="bg2"/>
          </a:solidFill>
          <a:ln w="12700">
            <a:solidFill>
              <a:schemeClr val="bg2"/>
            </a:solidFill>
            <a:prstDash val="solid"/>
          </a:ln>
        </p:spPr>
      </p:sp>
      <p:pic>
        <p:nvPicPr>
          <p:cNvPr id="15" name="Image 2" descr="LuMailCheck">    </p:cNvPr>
          <p:cNvPicPr>
            <a:picLocks noChangeAspect="1"/>
          </p:cNvPicPr>
          <p:nvPr/>
        </p:nvPicPr>
        <p:blipFill>
          <a:blip r:embed="rId3"/>
          <a:stretch>
            <a:fillRect/>
          </a:stretch>
        </p:blipFill>
        <p:spPr>
          <a:xfrm>
            <a:off x="6410310" y="3401934"/>
            <a:ext cx="218724" cy="218724"/>
          </a:xfrm>
          <a:prstGeom prst="rect">
            <a:avLst/>
          </a:prstGeom>
        </p:spPr>
      </p:pic>
      <p:sp>
        <p:nvSpPr>
          <p:cNvPr id="16" name="Text 11"/>
          <p:cNvSpPr txBox="1"/>
          <p:nvPr/>
        </p:nvSpPr>
        <p:spPr>
          <a:xfrm>
            <a:off x="6903720" y="3300984"/>
            <a:ext cx="4709160" cy="420624"/>
          </a:xfrm>
          <a:prstGeom prst="rect">
            <a:avLst/>
          </a:prstGeom>
          <a:noFill/>
          <a:ln/>
        </p:spPr>
        <p:txBody>
          <a:bodyPr wrap="square" lIns="0" tIns="0" rIns="0" bIns="0" rtlCol="0" anchor="ctr"/>
          <a:lstStyle/>
          <a:p>
            <a:pPr indent="0" marL="0">
              <a:buNone/>
            </a:pPr>
            <a:r>
              <a:rPr lang="en-US" sz="1350" dirty="0">
                <a:solidFill>
                  <a:schemeClr val="tx1"/>
                </a:solidFill>
              </a:rPr>
              <a:t>Invite-only events with named guest lists</a:t>
            </a:r>
            <a:endParaRPr lang="en-US" sz="1350" dirty="0"/>
          </a:p>
        </p:txBody>
      </p:sp>
      <p:sp>
        <p:nvSpPr>
          <p:cNvPr id="17" name="icon-circle"/>
          <p:cNvSpPr/>
          <p:nvPr/>
        </p:nvSpPr>
        <p:spPr>
          <a:xfrm>
            <a:off x="6309360" y="4014216"/>
            <a:ext cx="420624" cy="420624"/>
          </a:xfrm>
          <a:prstGeom prst="ellipse">
            <a:avLst/>
          </a:prstGeom>
          <a:solidFill>
            <a:schemeClr val="bg2"/>
          </a:solidFill>
          <a:ln w="12700">
            <a:solidFill>
              <a:schemeClr val="bg2"/>
            </a:solidFill>
            <a:prstDash val="solid"/>
          </a:ln>
        </p:spPr>
      </p:sp>
      <p:pic>
        <p:nvPicPr>
          <p:cNvPr id="18" name="Image 3" descr="LuBanknote">    </p:cNvPr>
          <p:cNvPicPr>
            <a:picLocks noChangeAspect="1"/>
          </p:cNvPicPr>
          <p:nvPr/>
        </p:nvPicPr>
        <p:blipFill>
          <a:blip r:embed="rId4"/>
          <a:stretch>
            <a:fillRect/>
          </a:stretch>
        </p:blipFill>
        <p:spPr>
          <a:xfrm>
            <a:off x="6410310" y="4115166"/>
            <a:ext cx="218724" cy="218724"/>
          </a:xfrm>
          <a:prstGeom prst="rect">
            <a:avLst/>
          </a:prstGeom>
        </p:spPr>
      </p:pic>
      <p:sp>
        <p:nvSpPr>
          <p:cNvPr id="19" name="Text 13"/>
          <p:cNvSpPr txBox="1"/>
          <p:nvPr/>
        </p:nvSpPr>
        <p:spPr>
          <a:xfrm>
            <a:off x="6903720" y="4014216"/>
            <a:ext cx="4709160" cy="420624"/>
          </a:xfrm>
          <a:prstGeom prst="rect">
            <a:avLst/>
          </a:prstGeom>
          <a:noFill/>
          <a:ln/>
        </p:spPr>
        <p:txBody>
          <a:bodyPr wrap="square" lIns="0" tIns="0" rIns="0" bIns="0" rtlCol="0" anchor="ctr"/>
          <a:lstStyle/>
          <a:p>
            <a:pPr indent="0" marL="0">
              <a:buNone/>
            </a:pPr>
            <a:r>
              <a:rPr lang="en-US" sz="1350" dirty="0">
                <a:solidFill>
                  <a:schemeClr val="tx1"/>
                </a:solidFill>
              </a:rPr>
              <a:t>Live payments and automated payouts, after review</a:t>
            </a:r>
            <a:endParaRPr lang="en-US" sz="1350" dirty="0"/>
          </a:p>
        </p:txBody>
      </p:sp>
      <p:sp>
        <p:nvSpPr>
          <p:cNvPr id="20" name="icon-circle"/>
          <p:cNvSpPr/>
          <p:nvPr/>
        </p:nvSpPr>
        <p:spPr>
          <a:xfrm>
            <a:off x="6309360" y="4727448"/>
            <a:ext cx="420624" cy="420624"/>
          </a:xfrm>
          <a:prstGeom prst="ellipse">
            <a:avLst/>
          </a:prstGeom>
          <a:solidFill>
            <a:schemeClr val="bg2"/>
          </a:solidFill>
          <a:ln w="12700">
            <a:solidFill>
              <a:schemeClr val="bg2"/>
            </a:solidFill>
            <a:prstDash val="solid"/>
          </a:ln>
        </p:spPr>
      </p:sp>
      <p:pic>
        <p:nvPicPr>
          <p:cNvPr id="21" name="Image 4" descr="LuGauge">    </p:cNvPr>
          <p:cNvPicPr>
            <a:picLocks noChangeAspect="1"/>
          </p:cNvPicPr>
          <p:nvPr/>
        </p:nvPicPr>
        <p:blipFill>
          <a:blip r:embed="rId5"/>
          <a:stretch>
            <a:fillRect/>
          </a:stretch>
        </p:blipFill>
        <p:spPr>
          <a:xfrm>
            <a:off x="6410310" y="4828398"/>
            <a:ext cx="218724" cy="218724"/>
          </a:xfrm>
          <a:prstGeom prst="rect">
            <a:avLst/>
          </a:prstGeom>
        </p:spPr>
      </p:pic>
      <p:sp>
        <p:nvSpPr>
          <p:cNvPr id="22" name="Text 15"/>
          <p:cNvSpPr txBox="1"/>
          <p:nvPr/>
        </p:nvSpPr>
        <p:spPr>
          <a:xfrm>
            <a:off x="6903720" y="4727448"/>
            <a:ext cx="4709160" cy="420624"/>
          </a:xfrm>
          <a:prstGeom prst="rect">
            <a:avLst/>
          </a:prstGeom>
          <a:noFill/>
          <a:ln/>
        </p:spPr>
        <p:txBody>
          <a:bodyPr wrap="square" lIns="0" tIns="0" rIns="0" bIns="0" rtlCol="0" anchor="ctr"/>
          <a:lstStyle/>
          <a:p>
            <a:pPr indent="0" marL="0">
              <a:buNone/>
            </a:pPr>
            <a:r>
              <a:rPr lang="en-US" sz="1350" dirty="0">
                <a:solidFill>
                  <a:schemeClr val="tx1"/>
                </a:solidFill>
              </a:rPr>
              <a:t>Load testing and a pilot with real organizers</a:t>
            </a:r>
            <a:endParaRPr lang="en-US" sz="1350" dirty="0"/>
          </a:p>
        </p:txBody>
      </p:sp>
      <p:sp>
        <p:nvSpPr>
          <p:cNvPr id="23" name="icon-circle"/>
          <p:cNvSpPr/>
          <p:nvPr/>
        </p:nvSpPr>
        <p:spPr>
          <a:xfrm>
            <a:off x="6309360" y="5440680"/>
            <a:ext cx="420624" cy="420624"/>
          </a:xfrm>
          <a:prstGeom prst="ellipse">
            <a:avLst/>
          </a:prstGeom>
          <a:solidFill>
            <a:schemeClr val="bg2"/>
          </a:solidFill>
          <a:ln w="12700">
            <a:solidFill>
              <a:schemeClr val="bg2"/>
            </a:solidFill>
            <a:prstDash val="solid"/>
          </a:ln>
        </p:spPr>
      </p:sp>
      <p:pic>
        <p:nvPicPr>
          <p:cNvPr id="24" name="Image 5" descr="LuWifiOff">    </p:cNvPr>
          <p:cNvPicPr>
            <a:picLocks noChangeAspect="1"/>
          </p:cNvPicPr>
          <p:nvPr/>
        </p:nvPicPr>
        <p:blipFill>
          <a:blip r:embed="rId6"/>
          <a:stretch>
            <a:fillRect/>
          </a:stretch>
        </p:blipFill>
        <p:spPr>
          <a:xfrm>
            <a:off x="6410310" y="5541630"/>
            <a:ext cx="218724" cy="218724"/>
          </a:xfrm>
          <a:prstGeom prst="rect">
            <a:avLst/>
          </a:prstGeom>
        </p:spPr>
      </p:pic>
      <p:sp>
        <p:nvSpPr>
          <p:cNvPr id="25" name="Text 17"/>
          <p:cNvSpPr txBox="1"/>
          <p:nvPr/>
        </p:nvSpPr>
        <p:spPr>
          <a:xfrm>
            <a:off x="6903720" y="5440680"/>
            <a:ext cx="4709160" cy="420624"/>
          </a:xfrm>
          <a:prstGeom prst="rect">
            <a:avLst/>
          </a:prstGeom>
          <a:noFill/>
          <a:ln/>
        </p:spPr>
        <p:txBody>
          <a:bodyPr wrap="square" lIns="0" tIns="0" rIns="0" bIns="0" rtlCol="0" anchor="ctr"/>
          <a:lstStyle/>
          <a:p>
            <a:pPr indent="0" marL="0">
              <a:buNone/>
            </a:pPr>
            <a:r>
              <a:rPr lang="en-US" sz="1350" dirty="0">
                <a:solidFill>
                  <a:schemeClr val="tx1"/>
                </a:solidFill>
              </a:rPr>
              <a:t>Offline-tolerant scanning for door devices</a:t>
            </a:r>
            <a:endParaRPr lang="en-US" sz="13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EventDeck logo">    </p:cNvPr>
          <p:cNvPicPr>
            <a:picLocks noChangeAspect="1"/>
          </p:cNvPicPr>
          <p:nvPr/>
        </p:nvPicPr>
        <p:blipFill>
          <a:blip r:embed="rId1"/>
          <a:stretch>
            <a:fillRect/>
          </a:stretch>
        </p:blipFill>
        <p:spPr>
          <a:xfrm>
            <a:off x="640080" y="548640"/>
            <a:ext cx="2514600" cy="548640"/>
          </a:xfrm>
          <a:prstGeom prst="rect">
            <a:avLst/>
          </a:prstGeom>
        </p:spPr>
      </p:pic>
      <p:pic>
        <p:nvPicPr>
          <p:cNvPr id="3" name="Image 1" descr="EventDeck mark">    </p:cNvPr>
          <p:cNvPicPr>
            <a:picLocks noChangeAspect="1"/>
          </p:cNvPicPr>
          <p:nvPr/>
        </p:nvPicPr>
        <p:blipFill>
          <a:blip r:embed="rId2"/>
          <a:stretch>
            <a:fillRect/>
          </a:stretch>
        </p:blipFill>
        <p:spPr>
          <a:xfrm>
            <a:off x="8412480" y="2011680"/>
            <a:ext cx="3017520" cy="3017520"/>
          </a:xfrm>
          <a:prstGeom prst="rect">
            <a:avLst/>
          </a:prstGeom>
        </p:spPr>
      </p:pic>
      <p:sp>
        <p:nvSpPr>
          <p:cNvPr id="4" name="Text 0"/>
          <p:cNvSpPr txBox="1"/>
          <p:nvPr/>
        </p:nvSpPr>
        <p:spPr>
          <a:xfrm>
            <a:off x="640080" y="1828800"/>
            <a:ext cx="7315200" cy="109728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Thank you</a:t>
            </a:r>
            <a:endParaRPr lang="en-US" sz="6000" dirty="0"/>
          </a:p>
        </p:txBody>
      </p:sp>
      <p:sp>
        <p:nvSpPr>
          <p:cNvPr id="5" name="Text 1"/>
          <p:cNvSpPr txBox="1"/>
          <p:nvPr/>
        </p:nvSpPr>
        <p:spPr>
          <a:xfrm>
            <a:off x="640080" y="2926080"/>
            <a:ext cx="7315200" cy="457200"/>
          </a:xfrm>
          <a:prstGeom prst="rect">
            <a:avLst/>
          </a:prstGeom>
          <a:noFill/>
          <a:ln/>
        </p:spPr>
        <p:txBody>
          <a:bodyPr wrap="square" lIns="0" tIns="0" rIns="0" bIns="0" rtlCol="0" anchor="t"/>
          <a:lstStyle/>
          <a:p>
            <a:pPr indent="0" marL="0">
              <a:buNone/>
            </a:pPr>
            <a:r>
              <a:rPr lang="en-US" sz="2400" i="1" dirty="0">
                <a:solidFill>
                  <a:schemeClr val="accent1"/>
                </a:solidFill>
                <a:latin typeface="Cambria" pitchFamily="34" charset="0"/>
                <a:ea typeface="Cambria" pitchFamily="34" charset="-122"/>
                <a:cs typeface="Cambria" pitchFamily="34" charset="-120"/>
              </a:rPr>
              <a:t>Questions and discussion</a:t>
            </a:r>
            <a:endParaRPr lang="en-US" sz="2400" dirty="0"/>
          </a:p>
        </p:txBody>
      </p:sp>
      <p:sp>
        <p:nvSpPr>
          <p:cNvPr id="6" name="Text 2"/>
          <p:cNvSpPr txBox="1"/>
          <p:nvPr/>
        </p:nvSpPr>
        <p:spPr>
          <a:xfrm>
            <a:off x="640080" y="3840480"/>
            <a:ext cx="4572000" cy="731520"/>
          </a:xfrm>
          <a:prstGeom prst="rect">
            <a:avLst/>
          </a:prstGeom>
          <a:noFill/>
          <a:ln/>
        </p:spPr>
        <p:txBody>
          <a:bodyPr wrap="square" lIns="0" tIns="0" rIns="0" bIns="0" rtlCol="0" anchor="t"/>
          <a:lstStyle/>
          <a:p>
            <a:pPr indent="0" marL="0">
              <a:buNone/>
            </a:pPr>
            <a:r>
              <a:rPr lang="en-US" sz="1000" b="1" spc="200" kern="0" dirty="0">
                <a:solidFill>
                  <a:schemeClr val="accent3"/>
                </a:solidFill>
              </a:rPr>
              <a:t>LIVE APPLICATION</a:t>
            </a:r>
            <a:endParaRPr lang="en-US" sz="1400" dirty="0"/>
          </a:p>
          <a:p>
            <a:pPr indent="0" marL="0">
              <a:buNone/>
            </a:pPr>
            <a:r>
              <a:rPr lang="en-US" sz="1800" b="1" dirty="0">
                <a:solidFill>
                  <a:schemeClr val="bg1"/>
                </a:solidFill>
              </a:rPr>
              <a:t>eventdeck.online</a:t>
            </a:r>
            <a:endParaRPr lang="en-US" sz="1400" dirty="0"/>
          </a:p>
        </p:txBody>
      </p:sp>
      <p:sp>
        <p:nvSpPr>
          <p:cNvPr id="7" name="Text 3"/>
          <p:cNvSpPr txBox="1"/>
          <p:nvPr/>
        </p:nvSpPr>
        <p:spPr>
          <a:xfrm>
            <a:off x="640080" y="4892040"/>
            <a:ext cx="10881360" cy="1005840"/>
          </a:xfrm>
          <a:prstGeom prst="rect">
            <a:avLst/>
          </a:prstGeom>
          <a:noFill/>
          <a:ln/>
        </p:spPr>
        <p:txBody>
          <a:bodyPr wrap="square" lIns="0" tIns="0" rIns="0" bIns="0" rtlCol="0" anchor="t"/>
          <a:lstStyle/>
          <a:p>
            <a:pPr indent="0" marL="0">
              <a:buNone/>
            </a:pPr>
            <a:r>
              <a:rPr lang="en-US" sz="1000" b="1" spc="200" kern="0" dirty="0">
                <a:solidFill>
                  <a:schemeClr val="accent3"/>
                </a:solidFill>
              </a:rPr>
              <a:t>TEAM</a:t>
            </a:r>
            <a:endParaRPr lang="en-US" sz="1400" dirty="0"/>
          </a:p>
          <a:p>
            <a:pPr indent="0" marL="0">
              <a:buNone/>
            </a:pPr>
            <a:r>
              <a:rPr lang="en-US" sz="1400" dirty="0">
                <a:solidFill>
                  <a:schemeClr val="bg1"/>
                </a:solidFill>
              </a:rPr>
              <a:t>Matheshwaran R  ·  Suhas C  ·  Nithyashree K  ·  Devananda E</a:t>
            </a:r>
            <a:endParaRPr lang="en-US" sz="1400" dirty="0"/>
          </a:p>
          <a:p>
            <a:pPr indent="0" marL="0">
              <a:buNone/>
            </a:pPr>
            <a:r>
              <a:rPr lang="en-US" sz="1200" dirty="0">
                <a:solidFill>
                  <a:schemeClr val="accent6"/>
                </a:solidFill>
              </a:rPr>
              <a:t>Guide: Dr. V. Nisha, Assistant Professor, Department of Computer Applications</a:t>
            </a:r>
            <a:endParaRPr lang="en-US" sz="1400" dirty="0"/>
          </a:p>
        </p:txBody>
      </p:sp>
    </p:spTree>
  </p:cSld>
  <p:clrMapOvr>
    <a:masterClrMapping/>
  </p:clrMapOvr>
</p:sld>
</file>

<file path=ppt/theme/theme1.xml><?xml version="1.0" encoding="utf-8"?>
<a:theme xmlns:a="http://schemas.openxmlformats.org/drawingml/2006/main" name="EventDeck">
  <a:themeElements>
    <a:clrScheme name="EventDeck">
      <a:dk1>
        <a:srgbClr val="1F1B17"/>
      </a:dk1>
      <a:lt1>
        <a:srgbClr val="FFFFFF"/>
      </a:lt1>
      <a:dk2>
        <a:srgbClr val="4A433C"/>
      </a:dk2>
      <a:lt2>
        <a:srgbClr val="F3EFE9"/>
      </a:lt2>
      <a:accent1>
        <a:srgbClr val="D9462B"/>
      </a:accent1>
      <a:accent2>
        <a:srgbClr val="2F6F5E"/>
      </a:accent2>
      <a:accent3>
        <a:srgbClr val="8A8178"/>
      </a:accent3>
      <a:accent4>
        <a:srgbClr val="C98A1B"/>
      </a:accent4>
      <a:accent5>
        <a:srgbClr val="FAF8F4"/>
      </a:accent5>
      <a:accent6>
        <a:srgbClr val="E6DFD5"/>
      </a:accent6>
      <a:hlink>
        <a:srgbClr val="D9462B"/>
      </a:hlink>
      <a:folHlink>
        <a:srgbClr val="8A8178"/>
      </a:folHlink>
    </a:clrScheme>
    <a:fontScheme name="EventD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SRM Institute of Science &amp;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EventDeck — MCA Project Presentation</dc:title>
  <dc:subject>EVENTDECK: A UNIVERSITY EVENT TICKETING SYSTEM WITH TRANSACTIONAL SEAT RESERVATION AND QR CHECK-IN</dc:subject>
  <dc:creator>Matheshwaran R, Suhas C, Nithyashree K, Devananda E</dc:creator>
  <cp:lastModifiedBy>Matheshwaran R, Suhas C, Nithyashree K, Devananda E</cp:lastModifiedBy>
  <cp:revision>1</cp:revision>
  <dcterms:created xsi:type="dcterms:W3CDTF">2026-10-15T04:56:03Z</dcterms:created>
  <dcterms:modified xsi:type="dcterms:W3CDTF">2026-10-15T04:56:03Z</dcterms:modified>
</cp:coreProperties>
</file>